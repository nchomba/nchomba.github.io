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sldSz cx="9144000" cy="5143500" type="screen16x9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napToObjects="1">
      <p:cViewPr varScale="1">
        <p:scale>
          <a:sx n="107" d="100"/>
          <a:sy n="107" d="100"/>
        </p:scale>
        <p:origin x="754" y="38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6/11/relationships/changesInfo" Target="changesInfos/changesInfo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Naomi chomba" userId="b1d8040642c84426" providerId="LiveId" clId="{3DBB6B75-AE8F-460D-A108-B21E9F773BD5}"/>
    <pc:docChg chg="undo custSel modSld">
      <pc:chgData name="Naomi chomba" userId="b1d8040642c84426" providerId="LiveId" clId="{3DBB6B75-AE8F-460D-A108-B21E9F773BD5}" dt="2026-06-23T10:55:31.324" v="83" actId="1076"/>
      <pc:docMkLst>
        <pc:docMk/>
      </pc:docMkLst>
      <pc:sldChg chg="modSp mod">
        <pc:chgData name="Naomi chomba" userId="b1d8040642c84426" providerId="LiveId" clId="{3DBB6B75-AE8F-460D-A108-B21E9F773BD5}" dt="2026-06-23T10:46:14.446" v="23" actId="1076"/>
        <pc:sldMkLst>
          <pc:docMk/>
          <pc:sldMk cId="0" sldId="256"/>
        </pc:sldMkLst>
        <pc:picChg chg="mod">
          <ac:chgData name="Naomi chomba" userId="b1d8040642c84426" providerId="LiveId" clId="{3DBB6B75-AE8F-460D-A108-B21E9F773BD5}" dt="2026-06-23T10:46:14.446" v="23" actId="1076"/>
          <ac:picMkLst>
            <pc:docMk/>
            <pc:sldMk cId="0" sldId="256"/>
            <ac:picMk id="17" creationId="{00000000-0000-0000-0000-000000000000}"/>
          </ac:picMkLst>
        </pc:picChg>
      </pc:sldChg>
      <pc:sldChg chg="modSp mod">
        <pc:chgData name="Naomi chomba" userId="b1d8040642c84426" providerId="LiveId" clId="{3DBB6B75-AE8F-460D-A108-B21E9F773BD5}" dt="2026-06-23T10:47:58.560" v="39" actId="122"/>
        <pc:sldMkLst>
          <pc:docMk/>
          <pc:sldMk cId="0" sldId="257"/>
        </pc:sldMkLst>
        <pc:spChg chg="mod">
          <ac:chgData name="Naomi chomba" userId="b1d8040642c84426" providerId="LiveId" clId="{3DBB6B75-AE8F-460D-A108-B21E9F773BD5}" dt="2026-06-23T10:47:58.560" v="39" actId="122"/>
          <ac:spMkLst>
            <pc:docMk/>
            <pc:sldMk cId="0" sldId="257"/>
            <ac:spMk id="4" creationId="{00000000-0000-0000-0000-000000000000}"/>
          </ac:spMkLst>
        </pc:spChg>
        <pc:picChg chg="mod">
          <ac:chgData name="Naomi chomba" userId="b1d8040642c84426" providerId="LiveId" clId="{3DBB6B75-AE8F-460D-A108-B21E9F773BD5}" dt="2026-06-23T10:45:52.182" v="22" actId="1076"/>
          <ac:picMkLst>
            <pc:docMk/>
            <pc:sldMk cId="0" sldId="257"/>
            <ac:picMk id="7" creationId="{00000000-0000-0000-0000-000000000000}"/>
          </ac:picMkLst>
        </pc:picChg>
        <pc:picChg chg="mod">
          <ac:chgData name="Naomi chomba" userId="b1d8040642c84426" providerId="LiveId" clId="{3DBB6B75-AE8F-460D-A108-B21E9F773BD5}" dt="2026-06-23T10:46:58.341" v="28" actId="1076"/>
          <ac:picMkLst>
            <pc:docMk/>
            <pc:sldMk cId="0" sldId="257"/>
            <ac:picMk id="8" creationId="{00000000-0000-0000-0000-000000000000}"/>
          </ac:picMkLst>
        </pc:picChg>
      </pc:sldChg>
      <pc:sldChg chg="modSp mod">
        <pc:chgData name="Naomi chomba" userId="b1d8040642c84426" providerId="LiveId" clId="{3DBB6B75-AE8F-460D-A108-B21E9F773BD5}" dt="2026-06-23T10:48:47.525" v="44" actId="122"/>
        <pc:sldMkLst>
          <pc:docMk/>
          <pc:sldMk cId="0" sldId="258"/>
        </pc:sldMkLst>
        <pc:spChg chg="mod">
          <ac:chgData name="Naomi chomba" userId="b1d8040642c84426" providerId="LiveId" clId="{3DBB6B75-AE8F-460D-A108-B21E9F773BD5}" dt="2026-06-23T10:48:47.525" v="44" actId="122"/>
          <ac:spMkLst>
            <pc:docMk/>
            <pc:sldMk cId="0" sldId="258"/>
            <ac:spMk id="3" creationId="{00000000-0000-0000-0000-000000000000}"/>
          </ac:spMkLst>
        </pc:spChg>
        <pc:picChg chg="mod">
          <ac:chgData name="Naomi chomba" userId="b1d8040642c84426" providerId="LiveId" clId="{3DBB6B75-AE8F-460D-A108-B21E9F773BD5}" dt="2026-06-23T10:48:27.838" v="40" actId="1076"/>
          <ac:picMkLst>
            <pc:docMk/>
            <pc:sldMk cId="0" sldId="258"/>
            <ac:picMk id="11" creationId="{00000000-0000-0000-0000-000000000000}"/>
          </ac:picMkLst>
        </pc:picChg>
      </pc:sldChg>
      <pc:sldChg chg="modSp mod">
        <pc:chgData name="Naomi chomba" userId="b1d8040642c84426" providerId="LiveId" clId="{3DBB6B75-AE8F-460D-A108-B21E9F773BD5}" dt="2026-06-23T10:49:18.647" v="48" actId="1076"/>
        <pc:sldMkLst>
          <pc:docMk/>
          <pc:sldMk cId="0" sldId="259"/>
        </pc:sldMkLst>
        <pc:spChg chg="mod">
          <ac:chgData name="Naomi chomba" userId="b1d8040642c84426" providerId="LiveId" clId="{3DBB6B75-AE8F-460D-A108-B21E9F773BD5}" dt="2026-06-23T10:49:12.372" v="47" actId="122"/>
          <ac:spMkLst>
            <pc:docMk/>
            <pc:sldMk cId="0" sldId="259"/>
            <ac:spMk id="3" creationId="{00000000-0000-0000-0000-000000000000}"/>
          </ac:spMkLst>
        </pc:spChg>
        <pc:picChg chg="mod">
          <ac:chgData name="Naomi chomba" userId="b1d8040642c84426" providerId="LiveId" clId="{3DBB6B75-AE8F-460D-A108-B21E9F773BD5}" dt="2026-06-23T10:49:18.647" v="48" actId="1076"/>
          <ac:picMkLst>
            <pc:docMk/>
            <pc:sldMk cId="0" sldId="259"/>
            <ac:picMk id="23" creationId="{00000000-0000-0000-0000-000000000000}"/>
          </ac:picMkLst>
        </pc:picChg>
      </pc:sldChg>
      <pc:sldChg chg="modSp mod">
        <pc:chgData name="Naomi chomba" userId="b1d8040642c84426" providerId="LiveId" clId="{3DBB6B75-AE8F-460D-A108-B21E9F773BD5}" dt="2026-06-23T10:49:52.895" v="53" actId="1076"/>
        <pc:sldMkLst>
          <pc:docMk/>
          <pc:sldMk cId="0" sldId="260"/>
        </pc:sldMkLst>
        <pc:spChg chg="mod">
          <ac:chgData name="Naomi chomba" userId="b1d8040642c84426" providerId="LiveId" clId="{3DBB6B75-AE8F-460D-A108-B21E9F773BD5}" dt="2026-06-23T10:49:45.907" v="52" actId="122"/>
          <ac:spMkLst>
            <pc:docMk/>
            <pc:sldMk cId="0" sldId="260"/>
            <ac:spMk id="3" creationId="{00000000-0000-0000-0000-000000000000}"/>
          </ac:spMkLst>
        </pc:spChg>
        <pc:picChg chg="mod">
          <ac:chgData name="Naomi chomba" userId="b1d8040642c84426" providerId="LiveId" clId="{3DBB6B75-AE8F-460D-A108-B21E9F773BD5}" dt="2026-06-23T10:49:52.895" v="53" actId="1076"/>
          <ac:picMkLst>
            <pc:docMk/>
            <pc:sldMk cId="0" sldId="260"/>
            <ac:picMk id="29" creationId="{00000000-0000-0000-0000-000000000000}"/>
          </ac:picMkLst>
        </pc:picChg>
      </pc:sldChg>
      <pc:sldChg chg="modSp mod">
        <pc:chgData name="Naomi chomba" userId="b1d8040642c84426" providerId="LiveId" clId="{3DBB6B75-AE8F-460D-A108-B21E9F773BD5}" dt="2026-06-23T10:52:04.844" v="64" actId="1076"/>
        <pc:sldMkLst>
          <pc:docMk/>
          <pc:sldMk cId="0" sldId="261"/>
        </pc:sldMkLst>
        <pc:spChg chg="mod">
          <ac:chgData name="Naomi chomba" userId="b1d8040642c84426" providerId="LiveId" clId="{3DBB6B75-AE8F-460D-A108-B21E9F773BD5}" dt="2026-06-23T10:50:54.590" v="59" actId="14100"/>
          <ac:spMkLst>
            <pc:docMk/>
            <pc:sldMk cId="0" sldId="261"/>
            <ac:spMk id="4" creationId="{00000000-0000-0000-0000-000000000000}"/>
          </ac:spMkLst>
        </pc:spChg>
        <pc:spChg chg="mod">
          <ac:chgData name="Naomi chomba" userId="b1d8040642c84426" providerId="LiveId" clId="{3DBB6B75-AE8F-460D-A108-B21E9F773BD5}" dt="2026-06-23T10:50:11.185" v="55" actId="122"/>
          <ac:spMkLst>
            <pc:docMk/>
            <pc:sldMk cId="0" sldId="261"/>
            <ac:spMk id="5" creationId="{00000000-0000-0000-0000-000000000000}"/>
          </ac:spMkLst>
        </pc:spChg>
        <pc:picChg chg="mod">
          <ac:chgData name="Naomi chomba" userId="b1d8040642c84426" providerId="LiveId" clId="{3DBB6B75-AE8F-460D-A108-B21E9F773BD5}" dt="2026-06-23T10:52:04.844" v="64" actId="1076"/>
          <ac:picMkLst>
            <pc:docMk/>
            <pc:sldMk cId="0" sldId="261"/>
            <ac:picMk id="16" creationId="{00000000-0000-0000-0000-000000000000}"/>
          </ac:picMkLst>
        </pc:picChg>
      </pc:sldChg>
      <pc:sldChg chg="modSp mod">
        <pc:chgData name="Naomi chomba" userId="b1d8040642c84426" providerId="LiveId" clId="{3DBB6B75-AE8F-460D-A108-B21E9F773BD5}" dt="2026-06-23T10:55:31.324" v="83" actId="1076"/>
        <pc:sldMkLst>
          <pc:docMk/>
          <pc:sldMk cId="0" sldId="262"/>
        </pc:sldMkLst>
        <pc:spChg chg="mod">
          <ac:chgData name="Naomi chomba" userId="b1d8040642c84426" providerId="LiveId" clId="{3DBB6B75-AE8F-460D-A108-B21E9F773BD5}" dt="2026-06-23T10:51:37.994" v="62" actId="14100"/>
          <ac:spMkLst>
            <pc:docMk/>
            <pc:sldMk cId="0" sldId="262"/>
            <ac:spMk id="4" creationId="{00000000-0000-0000-0000-000000000000}"/>
          </ac:spMkLst>
        </pc:spChg>
        <pc:spChg chg="mod">
          <ac:chgData name="Naomi chomba" userId="b1d8040642c84426" providerId="LiveId" clId="{3DBB6B75-AE8F-460D-A108-B21E9F773BD5}" dt="2026-06-23T10:51:30.381" v="61" actId="122"/>
          <ac:spMkLst>
            <pc:docMk/>
            <pc:sldMk cId="0" sldId="262"/>
            <ac:spMk id="5" creationId="{00000000-0000-0000-0000-000000000000}"/>
          </ac:spMkLst>
        </pc:spChg>
        <pc:graphicFrameChg chg="mod">
          <ac:chgData name="Naomi chomba" userId="b1d8040642c84426" providerId="LiveId" clId="{3DBB6B75-AE8F-460D-A108-B21E9F773BD5}" dt="2026-06-23T10:55:31.324" v="83" actId="1076"/>
          <ac:graphicFrameMkLst>
            <pc:docMk/>
            <pc:sldMk cId="0" sldId="262"/>
            <ac:graphicFrameMk id="7" creationId="{00000000-0000-0000-0000-000000000000}"/>
          </ac:graphicFrameMkLst>
        </pc:graphicFrameChg>
        <pc:graphicFrameChg chg="mod">
          <ac:chgData name="Naomi chomba" userId="b1d8040642c84426" providerId="LiveId" clId="{3DBB6B75-AE8F-460D-A108-B21E9F773BD5}" dt="2026-06-20T15:32:06.575" v="9" actId="207"/>
          <ac:graphicFrameMkLst>
            <pc:docMk/>
            <pc:sldMk cId="0" sldId="262"/>
            <ac:graphicFrameMk id="8" creationId="{00000000-0000-0000-0000-000000000000}"/>
          </ac:graphicFrameMkLst>
        </pc:graphicFrameChg>
        <pc:picChg chg="mod">
          <ac:chgData name="Naomi chomba" userId="b1d8040642c84426" providerId="LiveId" clId="{3DBB6B75-AE8F-460D-A108-B21E9F773BD5}" dt="2026-06-23T10:51:45.814" v="63" actId="1076"/>
          <ac:picMkLst>
            <pc:docMk/>
            <pc:sldMk cId="0" sldId="262"/>
            <ac:picMk id="13" creationId="{00000000-0000-0000-0000-000000000000}"/>
          </ac:picMkLst>
        </pc:picChg>
      </pc:sldChg>
      <pc:sldChg chg="modSp mod">
        <pc:chgData name="Naomi chomba" userId="b1d8040642c84426" providerId="LiveId" clId="{3DBB6B75-AE8F-460D-A108-B21E9F773BD5}" dt="2026-06-23T10:52:44.390" v="68" actId="1076"/>
        <pc:sldMkLst>
          <pc:docMk/>
          <pc:sldMk cId="0" sldId="263"/>
        </pc:sldMkLst>
        <pc:spChg chg="mod">
          <ac:chgData name="Naomi chomba" userId="b1d8040642c84426" providerId="LiveId" clId="{3DBB6B75-AE8F-460D-A108-B21E9F773BD5}" dt="2026-06-23T10:52:38.701" v="67" actId="14100"/>
          <ac:spMkLst>
            <pc:docMk/>
            <pc:sldMk cId="0" sldId="263"/>
            <ac:spMk id="4" creationId="{00000000-0000-0000-0000-000000000000}"/>
          </ac:spMkLst>
        </pc:spChg>
        <pc:spChg chg="mod">
          <ac:chgData name="Naomi chomba" userId="b1d8040642c84426" providerId="LiveId" clId="{3DBB6B75-AE8F-460D-A108-B21E9F773BD5}" dt="2026-06-23T10:52:33.258" v="66" actId="122"/>
          <ac:spMkLst>
            <pc:docMk/>
            <pc:sldMk cId="0" sldId="263"/>
            <ac:spMk id="5" creationId="{00000000-0000-0000-0000-000000000000}"/>
          </ac:spMkLst>
        </pc:spChg>
        <pc:picChg chg="mod">
          <ac:chgData name="Naomi chomba" userId="b1d8040642c84426" providerId="LiveId" clId="{3DBB6B75-AE8F-460D-A108-B21E9F773BD5}" dt="2026-06-23T10:52:44.390" v="68" actId="1076"/>
          <ac:picMkLst>
            <pc:docMk/>
            <pc:sldMk cId="0" sldId="263"/>
            <ac:picMk id="18" creationId="{00000000-0000-0000-0000-000000000000}"/>
          </ac:picMkLst>
        </pc:picChg>
      </pc:sldChg>
      <pc:sldChg chg="modSp mod">
        <pc:chgData name="Naomi chomba" userId="b1d8040642c84426" providerId="LiveId" clId="{3DBB6B75-AE8F-460D-A108-B21E9F773BD5}" dt="2026-06-23T10:53:21.195" v="72" actId="1076"/>
        <pc:sldMkLst>
          <pc:docMk/>
          <pc:sldMk cId="0" sldId="264"/>
        </pc:sldMkLst>
        <pc:spChg chg="mod">
          <ac:chgData name="Naomi chomba" userId="b1d8040642c84426" providerId="LiveId" clId="{3DBB6B75-AE8F-460D-A108-B21E9F773BD5}" dt="2026-06-23T10:53:13.809" v="71" actId="14100"/>
          <ac:spMkLst>
            <pc:docMk/>
            <pc:sldMk cId="0" sldId="264"/>
            <ac:spMk id="4" creationId="{00000000-0000-0000-0000-000000000000}"/>
          </ac:spMkLst>
        </pc:spChg>
        <pc:spChg chg="mod">
          <ac:chgData name="Naomi chomba" userId="b1d8040642c84426" providerId="LiveId" clId="{3DBB6B75-AE8F-460D-A108-B21E9F773BD5}" dt="2026-06-23T10:53:07.740" v="70" actId="122"/>
          <ac:spMkLst>
            <pc:docMk/>
            <pc:sldMk cId="0" sldId="264"/>
            <ac:spMk id="5" creationId="{00000000-0000-0000-0000-000000000000}"/>
          </ac:spMkLst>
        </pc:spChg>
        <pc:graphicFrameChg chg="mod">
          <ac:chgData name="Naomi chomba" userId="b1d8040642c84426" providerId="LiveId" clId="{3DBB6B75-AE8F-460D-A108-B21E9F773BD5}" dt="2026-06-20T15:32:23.738" v="11" actId="207"/>
          <ac:graphicFrameMkLst>
            <pc:docMk/>
            <pc:sldMk cId="0" sldId="264"/>
            <ac:graphicFrameMk id="7" creationId="{00000000-0000-0000-0000-000000000000}"/>
          </ac:graphicFrameMkLst>
        </pc:graphicFrameChg>
        <pc:picChg chg="mod">
          <ac:chgData name="Naomi chomba" userId="b1d8040642c84426" providerId="LiveId" clId="{3DBB6B75-AE8F-460D-A108-B21E9F773BD5}" dt="2026-06-23T10:53:21.195" v="72" actId="1076"/>
          <ac:picMkLst>
            <pc:docMk/>
            <pc:sldMk cId="0" sldId="264"/>
            <ac:picMk id="12" creationId="{00000000-0000-0000-0000-000000000000}"/>
          </ac:picMkLst>
        </pc:picChg>
      </pc:sldChg>
      <pc:sldChg chg="modSp mod">
        <pc:chgData name="Naomi chomba" userId="b1d8040642c84426" providerId="LiveId" clId="{3DBB6B75-AE8F-460D-A108-B21E9F773BD5}" dt="2026-06-23T10:53:42.065" v="74" actId="1076"/>
        <pc:sldMkLst>
          <pc:docMk/>
          <pc:sldMk cId="0" sldId="265"/>
        </pc:sldMkLst>
        <pc:spChg chg="mod">
          <ac:chgData name="Naomi chomba" userId="b1d8040642c84426" providerId="LiveId" clId="{3DBB6B75-AE8F-460D-A108-B21E9F773BD5}" dt="2026-06-23T10:53:32.853" v="73" actId="14100"/>
          <ac:spMkLst>
            <pc:docMk/>
            <pc:sldMk cId="0" sldId="265"/>
            <ac:spMk id="3" creationId="{00000000-0000-0000-0000-000000000000}"/>
          </ac:spMkLst>
        </pc:spChg>
        <pc:spChg chg="mod">
          <ac:chgData name="Naomi chomba" userId="b1d8040642c84426" providerId="LiveId" clId="{3DBB6B75-AE8F-460D-A108-B21E9F773BD5}" dt="2026-06-20T15:33:03.464" v="13" actId="207"/>
          <ac:spMkLst>
            <pc:docMk/>
            <pc:sldMk cId="0" sldId="265"/>
            <ac:spMk id="9" creationId="{00000000-0000-0000-0000-000000000000}"/>
          </ac:spMkLst>
        </pc:spChg>
        <pc:picChg chg="mod">
          <ac:chgData name="Naomi chomba" userId="b1d8040642c84426" providerId="LiveId" clId="{3DBB6B75-AE8F-460D-A108-B21E9F773BD5}" dt="2026-06-23T10:53:42.065" v="74" actId="1076"/>
          <ac:picMkLst>
            <pc:docMk/>
            <pc:sldMk cId="0" sldId="265"/>
            <ac:picMk id="18" creationId="{00000000-0000-0000-0000-000000000000}"/>
          </ac:picMkLst>
        </pc:picChg>
      </pc:sldChg>
      <pc:sldChg chg="modSp mod">
        <pc:chgData name="Naomi chomba" userId="b1d8040642c84426" providerId="LiveId" clId="{3DBB6B75-AE8F-460D-A108-B21E9F773BD5}" dt="2026-06-23T10:54:10.530" v="76" actId="1076"/>
        <pc:sldMkLst>
          <pc:docMk/>
          <pc:sldMk cId="0" sldId="266"/>
        </pc:sldMkLst>
        <pc:spChg chg="mod">
          <ac:chgData name="Naomi chomba" userId="b1d8040642c84426" providerId="LiveId" clId="{3DBB6B75-AE8F-460D-A108-B21E9F773BD5}" dt="2026-06-23T10:53:56.904" v="75" actId="14100"/>
          <ac:spMkLst>
            <pc:docMk/>
            <pc:sldMk cId="0" sldId="266"/>
            <ac:spMk id="3" creationId="{00000000-0000-0000-0000-000000000000}"/>
          </ac:spMkLst>
        </pc:spChg>
        <pc:picChg chg="mod">
          <ac:chgData name="Naomi chomba" userId="b1d8040642c84426" providerId="LiveId" clId="{3DBB6B75-AE8F-460D-A108-B21E9F773BD5}" dt="2026-06-23T10:54:10.530" v="76" actId="1076"/>
          <ac:picMkLst>
            <pc:docMk/>
            <pc:sldMk cId="0" sldId="266"/>
            <ac:picMk id="36" creationId="{00000000-0000-0000-0000-000000000000}"/>
          </ac:picMkLst>
        </pc:picChg>
      </pc:sldChg>
      <pc:sldChg chg="modSp mod">
        <pc:chgData name="Naomi chomba" userId="b1d8040642c84426" providerId="LiveId" clId="{3DBB6B75-AE8F-460D-A108-B21E9F773BD5}" dt="2026-06-23T10:54:27.882" v="79" actId="1076"/>
        <pc:sldMkLst>
          <pc:docMk/>
          <pc:sldMk cId="0" sldId="267"/>
        </pc:sldMkLst>
        <pc:spChg chg="mod">
          <ac:chgData name="Naomi chomba" userId="b1d8040642c84426" providerId="LiveId" clId="{3DBB6B75-AE8F-460D-A108-B21E9F773BD5}" dt="2026-06-23T10:54:22.315" v="78" actId="122"/>
          <ac:spMkLst>
            <pc:docMk/>
            <pc:sldMk cId="0" sldId="267"/>
            <ac:spMk id="3" creationId="{00000000-0000-0000-0000-000000000000}"/>
          </ac:spMkLst>
        </pc:spChg>
        <pc:picChg chg="mod">
          <ac:chgData name="Naomi chomba" userId="b1d8040642c84426" providerId="LiveId" clId="{3DBB6B75-AE8F-460D-A108-B21E9F773BD5}" dt="2026-06-23T10:54:27.882" v="79" actId="1076"/>
          <ac:picMkLst>
            <pc:docMk/>
            <pc:sldMk cId="0" sldId="267"/>
            <ac:picMk id="26" creationId="{00000000-0000-0000-0000-000000000000}"/>
          </ac:picMkLst>
        </pc:picChg>
      </pc:sldChg>
      <pc:sldChg chg="modSp mod">
        <pc:chgData name="Naomi chomba" userId="b1d8040642c84426" providerId="LiveId" clId="{3DBB6B75-AE8F-460D-A108-B21E9F773BD5}" dt="2026-06-23T10:54:48.621" v="82" actId="1076"/>
        <pc:sldMkLst>
          <pc:docMk/>
          <pc:sldMk cId="0" sldId="268"/>
        </pc:sldMkLst>
        <pc:spChg chg="mod">
          <ac:chgData name="Naomi chomba" userId="b1d8040642c84426" providerId="LiveId" clId="{3DBB6B75-AE8F-460D-A108-B21E9F773BD5}" dt="2026-06-23T10:54:43.032" v="81" actId="122"/>
          <ac:spMkLst>
            <pc:docMk/>
            <pc:sldMk cId="0" sldId="268"/>
            <ac:spMk id="3" creationId="{00000000-0000-0000-0000-000000000000}"/>
          </ac:spMkLst>
        </pc:spChg>
        <pc:picChg chg="mod">
          <ac:chgData name="Naomi chomba" userId="b1d8040642c84426" providerId="LiveId" clId="{3DBB6B75-AE8F-460D-A108-B21E9F773BD5}" dt="2026-06-23T10:54:48.621" v="82" actId="1076"/>
          <ac:picMkLst>
            <pc:docMk/>
            <pc:sldMk cId="0" sldId="268"/>
            <ac:picMk id="21" creationId="{00000000-0000-0000-0000-000000000000}"/>
          </ac:picMkLst>
        </pc:pic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_rels/chart2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3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4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_rels/chart5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4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 sz="1200">
                <a:solidFill>
                  <a:srgbClr val="F4A235"/>
                </a:solidFill>
              </a:rPr>
              <a:t>Top 10 Aisles by Revenue ($M)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1ABC9C"/>
            </a:solidFill>
          </c:spPr>
          <c:invertIfNegative val="1"/>
          <c:cat>
            <c:strRef>
              <c:f>Sheet1!$A$2:$A$11</c:f>
              <c:strCache>
                <c:ptCount val="10"/>
                <c:pt idx="0">
                  <c:v>yogurt</c:v>
                </c:pt>
                <c:pt idx="1">
                  <c:v>white wines</c:v>
                </c:pt>
                <c:pt idx="2">
                  <c:v>water/seltzer</c:v>
                </c:pt>
                <c:pt idx="3">
                  <c:v>vitamins/suppl.</c:v>
                </c:pt>
                <c:pt idx="4">
                  <c:v>trash bags/liners</c:v>
                </c:pt>
                <c:pt idx="5">
                  <c:v>soy lactose free</c:v>
                </c:pt>
                <c:pt idx="6">
                  <c:v>packaged veg/fruit</c:v>
                </c:pt>
                <c:pt idx="7">
                  <c:v>packaged cheese</c:v>
                </c:pt>
                <c:pt idx="8">
                  <c:v>lunch meat</c:v>
                </c:pt>
                <c:pt idx="9">
                  <c:v>ice cream</c:v>
                </c:pt>
              </c:strCache>
            </c:strRef>
          </c:cat>
          <c:val>
            <c:numRef>
              <c:f>Sheet1!$B$2:$B$11</c:f>
              <c:numCache>
                <c:formatCode>General</c:formatCode>
                <c:ptCount val="10"/>
                <c:pt idx="0">
                  <c:v>158.4</c:v>
                </c:pt>
                <c:pt idx="1">
                  <c:v>155.1</c:v>
                </c:pt>
                <c:pt idx="2">
                  <c:v>152.80000000000001</c:v>
                </c:pt>
                <c:pt idx="3">
                  <c:v>150.30000000000001</c:v>
                </c:pt>
                <c:pt idx="4">
                  <c:v>148.69999999999999</c:v>
                </c:pt>
                <c:pt idx="5">
                  <c:v>145.19999999999999</c:v>
                </c:pt>
                <c:pt idx="6">
                  <c:v>143.1</c:v>
                </c:pt>
                <c:pt idx="7">
                  <c:v>141</c:v>
                </c:pt>
                <c:pt idx="8">
                  <c:v>138.9</c:v>
                </c:pt>
                <c:pt idx="9">
                  <c:v>136.5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3B33-43D9-B5F2-86B64E9935CA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B8CCEA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B8CCEA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 sz="1200">
                <a:solidFill>
                  <a:srgbClr val="F4A235"/>
                </a:solidFill>
              </a:rPr>
              <a:t>Top 5 Products by Revenue ($M)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27AE60"/>
            </a:solidFill>
          </c:spPr>
          <c:invertIfNegative val="1"/>
          <c:dLbls>
            <c:dLbl>
              <c:idx val="1"/>
              <c:layout>
                <c:manualLayout>
                  <c:x val="3.0864197530863064E-3"/>
                  <c:y val="0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3-CF31-4004-A142-D92345CC0741}"/>
                </c:ext>
              </c:extLst>
            </c:dLbl>
            <c:dLbl>
              <c:idx val="3"/>
              <c:layout>
                <c:manualLayout>
                  <c:x val="3.0864197530864196E-3"/>
                  <c:y val="4.9603174603174149E-3"/>
                </c:manualLayout>
              </c:layout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/>
                <c:ext xmlns:c16="http://schemas.microsoft.com/office/drawing/2014/chart" uri="{C3380CC4-5D6E-409C-BE32-E72D297353CC}">
                  <c16:uniqueId val="{00000002-CF31-4004-A142-D92345CC0741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>
                    <a:solidFill>
                      <a:schemeClr val="accent1">
                        <a:lumMod val="60000"/>
                        <a:lumOff val="40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Banana</c:v>
                </c:pt>
                <c:pt idx="1">
                  <c:v>Org. Bananas</c:v>
                </c:pt>
                <c:pt idx="2">
                  <c:v>Org. Strawberries</c:v>
                </c:pt>
                <c:pt idx="3">
                  <c:v>Org. Baby Spinach</c:v>
                </c:pt>
                <c:pt idx="4">
                  <c:v>Org. Avocado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3.21</c:v>
                </c:pt>
                <c:pt idx="1">
                  <c:v>2.84</c:v>
                </c:pt>
                <c:pt idx="2">
                  <c:v>2.52</c:v>
                </c:pt>
                <c:pt idx="3">
                  <c:v>2.31</c:v>
                </c:pt>
                <c:pt idx="4">
                  <c:v>2.08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CF31-4004-A142-D92345CC0741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B8CCEA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B8CCEA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 sz="1200">
                <a:solidFill>
                  <a:srgbClr val="F4A235"/>
                </a:solidFill>
              </a:rPr>
              <a:t>Bottom 5 Products by Revenue ($M)</a:t>
            </a:r>
          </a:p>
        </c:rich>
      </c:tx>
      <c:overlay val="0"/>
    </c:title>
    <c:autoTitleDeleted val="0"/>
    <c:plotArea>
      <c:layout/>
      <c:barChart>
        <c:barDir val="bar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E74C3C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>
                    <a:solidFill>
                      <a:schemeClr val="accent1">
                        <a:lumMod val="40000"/>
                        <a:lumOff val="60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Sheet1!$A$2:$A$6</c:f>
              <c:strCache>
                <c:ptCount val="5"/>
                <c:pt idx="0">
                  <c:v>Artisan Crackers</c:v>
                </c:pt>
                <c:pt idx="1">
                  <c:v>Single-Serve Coffee</c:v>
                </c:pt>
                <c:pt idx="2">
                  <c:v>Specialty Cheese</c:v>
                </c:pt>
                <c:pt idx="3">
                  <c:v>Exotic Spices</c:v>
                </c:pt>
                <c:pt idx="4">
                  <c:v>Imported Olives</c:v>
                </c:pt>
              </c:strCache>
            </c:strRef>
          </c:cat>
          <c:val>
            <c:numRef>
              <c:f>Sheet1!$B$2:$B$6</c:f>
              <c:numCache>
                <c:formatCode>General</c:formatCode>
                <c:ptCount val="5"/>
                <c:pt idx="0">
                  <c:v>1.7999999999999999E-2</c:v>
                </c:pt>
                <c:pt idx="1">
                  <c:v>2.1999999999999999E-2</c:v>
                </c:pt>
                <c:pt idx="2">
                  <c:v>3.1E-2</c:v>
                </c:pt>
                <c:pt idx="3">
                  <c:v>4.3999999999999997E-2</c:v>
                </c:pt>
                <c:pt idx="4">
                  <c:v>5.6000000000000001E-2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18C3-498E-8543-D1D375352746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l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B8CCEA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b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B8CCEA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 sz="1200">
                <a:solidFill>
                  <a:srgbClr val="F4A235"/>
                </a:solidFill>
              </a:rPr>
              <a:t>Orders by Hour of Day (0–23)</a:t>
            </a:r>
          </a:p>
        </c:rich>
      </c:tx>
      <c:overlay val="0"/>
    </c:title>
    <c:autoTitleDeleted val="0"/>
    <c:plotArea>
      <c:layout/>
      <c:lineChart>
        <c:grouping val="standar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Orders</c:v>
                </c:pt>
              </c:strCache>
            </c:strRef>
          </c:tx>
          <c:spPr>
            <a:ln w="31750">
              <a:solidFill>
                <a:srgbClr val="F4A235"/>
              </a:solidFill>
            </a:ln>
          </c:spPr>
          <c:marker>
            <c:symbol val="none"/>
          </c:marker>
          <c:cat>
            <c:strRef>
              <c:f>Sheet1!$A$2:$A$25</c:f>
              <c:strCache>
                <c:ptCount val="24"/>
                <c:pt idx="0">
                  <c:v>0</c:v>
                </c:pt>
                <c:pt idx="1">
                  <c:v>1</c:v>
                </c:pt>
                <c:pt idx="2">
                  <c:v>2</c:v>
                </c:pt>
                <c:pt idx="3">
                  <c:v>3</c:v>
                </c:pt>
                <c:pt idx="4">
                  <c:v>4</c:v>
                </c:pt>
                <c:pt idx="5">
                  <c:v>5</c:v>
                </c:pt>
                <c:pt idx="6">
                  <c:v>6</c:v>
                </c:pt>
                <c:pt idx="7">
                  <c:v>7</c:v>
                </c:pt>
                <c:pt idx="8">
                  <c:v>8</c:v>
                </c:pt>
                <c:pt idx="9">
                  <c:v>9</c:v>
                </c:pt>
                <c:pt idx="10">
                  <c:v>10</c:v>
                </c:pt>
                <c:pt idx="11">
                  <c:v>11</c:v>
                </c:pt>
                <c:pt idx="12">
                  <c:v>12</c:v>
                </c:pt>
                <c:pt idx="13">
                  <c:v>13</c:v>
                </c:pt>
                <c:pt idx="14">
                  <c:v>14</c:v>
                </c:pt>
                <c:pt idx="15">
                  <c:v>15</c:v>
                </c:pt>
                <c:pt idx="16">
                  <c:v>16</c:v>
                </c:pt>
                <c:pt idx="17">
                  <c:v>17</c:v>
                </c:pt>
                <c:pt idx="18">
                  <c:v>18</c:v>
                </c:pt>
                <c:pt idx="19">
                  <c:v>19</c:v>
                </c:pt>
                <c:pt idx="20">
                  <c:v>20</c:v>
                </c:pt>
                <c:pt idx="21">
                  <c:v>21</c:v>
                </c:pt>
                <c:pt idx="22">
                  <c:v>22</c:v>
                </c:pt>
                <c:pt idx="23">
                  <c:v>23</c:v>
                </c:pt>
              </c:strCache>
            </c:strRef>
          </c:cat>
          <c:val>
            <c:numRef>
              <c:f>Sheet1!$B$2:$B$25</c:f>
              <c:numCache>
                <c:formatCode>General</c:formatCode>
                <c:ptCount val="24"/>
                <c:pt idx="0">
                  <c:v>2800</c:v>
                </c:pt>
                <c:pt idx="1">
                  <c:v>1200</c:v>
                </c:pt>
                <c:pt idx="2">
                  <c:v>700</c:v>
                </c:pt>
                <c:pt idx="3">
                  <c:v>400</c:v>
                </c:pt>
                <c:pt idx="4">
                  <c:v>350</c:v>
                </c:pt>
                <c:pt idx="5">
                  <c:v>700</c:v>
                </c:pt>
                <c:pt idx="6">
                  <c:v>2800</c:v>
                </c:pt>
                <c:pt idx="7">
                  <c:v>9200</c:v>
                </c:pt>
                <c:pt idx="8">
                  <c:v>22000</c:v>
                </c:pt>
                <c:pt idx="9">
                  <c:v>40000</c:v>
                </c:pt>
                <c:pt idx="10">
                  <c:v>65000</c:v>
                </c:pt>
                <c:pt idx="11">
                  <c:v>78000</c:v>
                </c:pt>
                <c:pt idx="12">
                  <c:v>82000</c:v>
                </c:pt>
                <c:pt idx="13">
                  <c:v>80000</c:v>
                </c:pt>
                <c:pt idx="14">
                  <c:v>74000</c:v>
                </c:pt>
                <c:pt idx="15">
                  <c:v>62000</c:v>
                </c:pt>
                <c:pt idx="16">
                  <c:v>52000</c:v>
                </c:pt>
                <c:pt idx="17">
                  <c:v>44000</c:v>
                </c:pt>
                <c:pt idx="18">
                  <c:v>38000</c:v>
                </c:pt>
                <c:pt idx="19">
                  <c:v>30000</c:v>
                </c:pt>
                <c:pt idx="20">
                  <c:v>22000</c:v>
                </c:pt>
                <c:pt idx="21">
                  <c:v>16000</c:v>
                </c:pt>
                <c:pt idx="22">
                  <c:v>10000</c:v>
                </c:pt>
                <c:pt idx="23">
                  <c:v>5500</c:v>
                </c:pt>
              </c:numCache>
            </c:numRef>
          </c:val>
          <c:smooth val="1"/>
          <c:extLst>
            <c:ext xmlns:c16="http://schemas.microsoft.com/office/drawing/2014/chart" uri="{C3380CC4-5D6E-409C-BE32-E72D297353CC}">
              <c16:uniqueId val="{00000000-F818-4A86-B507-A44A5F957CD5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smooth val="0"/>
        <c:axId val="2118791784"/>
        <c:axId val="2140495176"/>
      </c:lineChart>
      <c:catAx>
        <c:axId val="2118791784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B8CCEA"/>
                </a:solidFill>
              </a:defRPr>
            </a:pPr>
            <a:endParaRPr lang="en-US"/>
          </a:p>
        </c:txPr>
        <c:crossAx val="2140495176"/>
        <c:crosses val="autoZero"/>
        <c:auto val="1"/>
        <c:lblAlgn val="ctr"/>
        <c:lblOffset val="100"/>
        <c:noMultiLvlLbl val="0"/>
      </c:catAx>
      <c:valAx>
        <c:axId val="2140495176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800">
                <a:solidFill>
                  <a:srgbClr val="B8CCEA"/>
                </a:solidFill>
              </a:defRPr>
            </a:pPr>
            <a:endParaRPr lang="en-US"/>
          </a:p>
        </c:txPr>
        <c:crossAx val="2118791784"/>
        <c:crosses val="autoZero"/>
        <c:crossBetween val="between"/>
      </c:valAx>
    </c:plotArea>
    <c:plotVisOnly val="1"/>
    <c:dispBlanksAs val="gap"/>
    <c:showDLblsOverMax val="0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/>
            </a:pPr>
            <a:r>
              <a:rPr lang="en-US" sz="1200">
                <a:solidFill>
                  <a:srgbClr val="F4A235"/>
                </a:solidFill>
              </a:rPr>
              <a:t>Annual Revenue Trend ($M)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>Value</c:v>
                </c:pt>
              </c:strCache>
            </c:strRef>
          </c:tx>
          <c:spPr>
            <a:solidFill>
              <a:srgbClr val="3498DB"/>
            </a:solidFill>
          </c:spPr>
          <c:invertIfNegative val="1"/>
          <c:dLbls>
            <c:spPr>
              <a:noFill/>
              <a:ln>
                <a:noFill/>
              </a:ln>
              <a:effectLst/>
            </c:spPr>
            <c:txPr>
              <a:bodyPr wrap="square" lIns="38100" tIns="19050" rIns="38100" bIns="19050" anchor="ctr">
                <a:spAutoFit/>
              </a:bodyPr>
              <a:lstStyle/>
              <a:p>
                <a:pPr>
                  <a:defRPr sz="1000">
                    <a:solidFill>
                      <a:schemeClr val="accent1">
                        <a:lumMod val="40000"/>
                        <a:lumOff val="60000"/>
                      </a:schemeClr>
                    </a:solidFill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Sheet1!$A$2:$A$9</c:f>
              <c:strCache>
                <c:ptCount val="8"/>
                <c:pt idx="0">
                  <c:v>2015</c:v>
                </c:pt>
                <c:pt idx="1">
                  <c:v>2016</c:v>
                </c:pt>
                <c:pt idx="2">
                  <c:v>2017</c:v>
                </c:pt>
                <c:pt idx="3">
                  <c:v>2018</c:v>
                </c:pt>
                <c:pt idx="4">
                  <c:v>2019</c:v>
                </c:pt>
                <c:pt idx="5">
                  <c:v>2020</c:v>
                </c:pt>
                <c:pt idx="6">
                  <c:v>2021</c:v>
                </c:pt>
                <c:pt idx="7">
                  <c:v>2022</c:v>
                </c:pt>
              </c:strCache>
            </c:strRef>
          </c:cat>
          <c:val>
            <c:numRef>
              <c:f>Sheet1!$B$2:$B$9</c:f>
              <c:numCache>
                <c:formatCode>General</c:formatCode>
                <c:ptCount val="8"/>
                <c:pt idx="0">
                  <c:v>1.42</c:v>
                </c:pt>
                <c:pt idx="1">
                  <c:v>1.51</c:v>
                </c:pt>
                <c:pt idx="2">
                  <c:v>1.55</c:v>
                </c:pt>
                <c:pt idx="3">
                  <c:v>1.62</c:v>
                </c:pt>
                <c:pt idx="4">
                  <c:v>1.58</c:v>
                </c:pt>
                <c:pt idx="5">
                  <c:v>1.67</c:v>
                </c:pt>
                <c:pt idx="6">
                  <c:v>1.71</c:v>
                </c:pt>
                <c:pt idx="7">
                  <c:v>1.48</c:v>
                </c:pt>
              </c:numCache>
            </c:numRef>
          </c:val>
          <c:extLst>
            <c:ext xmlns:c14="http://schemas.microsoft.com/office/drawing/2007/8/2/chart" uri="{6F2FDCE9-48DA-4B69-8628-5D25D57E5C99}">
              <c14:invertSolidFillFmt>
                <c14:spPr xmlns:c14="http://schemas.microsoft.com/office/drawing/2007/8/2/chart">
                  <a:solidFill>
                    <a:srgbClr val="FFFFFF"/>
                  </a:solidFill>
                </c14:spPr>
              </c14:invertSolidFillFmt>
            </c:ext>
            <c:ext xmlns:c16="http://schemas.microsoft.com/office/drawing/2014/chart" uri="{C3380CC4-5D6E-409C-BE32-E72D297353CC}">
              <c16:uniqueId val="{00000000-22D0-4786-964F-DB3BF073B45B}"/>
            </c:ext>
          </c:extLst>
        </c:ser>
        <c:dLbls>
          <c:showLegendKey val="0"/>
          <c:showVal val="0"/>
          <c:showCatName val="0"/>
          <c:showSerName val="0"/>
          <c:showPercent val="0"/>
          <c:showBubbleSize val="0"/>
        </c:dLbls>
        <c:gapWidth val="15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numFmt formatCode="General" sourceLinked="0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B8CCEA"/>
                </a:solidFill>
              </a:defRPr>
            </a:pPr>
            <a:endParaRPr lang="en-US"/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txPr>
          <a:bodyPr/>
          <a:lstStyle/>
          <a:p>
            <a:pPr>
              <a:defRPr sz="900">
                <a:solidFill>
                  <a:srgbClr val="B8CCEA"/>
                </a:solidFill>
              </a:defRPr>
            </a:pPr>
            <a:endParaRPr lang="en-US"/>
          </a:p>
        </c:txPr>
        <c:crossAx val="-2068027336"/>
        <c:crosses val="autoZero"/>
        <c:crossBetween val="between"/>
      </c:valAx>
    </c:plotArea>
    <c:plotVisOnly val="1"/>
    <c:dispBlanksAs val="gap"/>
    <c:showDLblsOverMax val="1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6/23/2026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1.xml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hart" Target="../charts/chart3.xml"/><Relationship Id="rId2" Type="http://schemas.openxmlformats.org/officeDocument/2006/relationships/chart" Target="../charts/chart2.xml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1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4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chart" Target="../charts/chart5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A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4A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548640" y="822960"/>
            <a:ext cx="8046720" cy="10058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5400" b="1" i="0">
                <a:solidFill>
                  <a:srgbClr val="F4A235"/>
                </a:solidFill>
                <a:latin typeface="Calibri"/>
              </a:rPr>
              <a:t>INSTACART DB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1828800"/>
            <a:ext cx="80467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0" i="0">
                <a:solidFill>
                  <a:srgbClr val="FFFFFF"/>
                </a:solidFill>
                <a:latin typeface="Calibri"/>
              </a:rPr>
              <a:t>Capstone Project Report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2606040"/>
            <a:ext cx="5029200" cy="45720"/>
          </a:xfrm>
          <a:prstGeom prst="rect">
            <a:avLst/>
          </a:prstGeom>
          <a:solidFill>
            <a:srgbClr val="F4A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548640" y="2788920"/>
            <a:ext cx="804672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B8CCEA"/>
                </a:solidFill>
                <a:latin typeface="Calibri"/>
              </a:rPr>
              <a:t>Sales Performance &amp; Operations Analysis  |  2015 – 2023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3246120"/>
            <a:ext cx="80467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CCEA"/>
                </a:solidFill>
                <a:latin typeface="Calibri"/>
              </a:rPr>
              <a:t>Presented to Stakeholders  ·  June 2026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4023360"/>
            <a:ext cx="1737360" cy="502920"/>
          </a:xfrm>
          <a:prstGeom prst="rect">
            <a:avLst/>
          </a:prstGeom>
          <a:solidFill>
            <a:srgbClr val="1A3060"/>
          </a:solidFill>
          <a:ln w="19050">
            <a:solidFill>
              <a:srgbClr val="F4A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48640" y="40233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A235"/>
                </a:solidFill>
                <a:latin typeface="Calibri"/>
              </a:rPr>
              <a:t>PostgreSQL</a:t>
            </a:r>
          </a:p>
        </p:txBody>
      </p:sp>
      <p:sp>
        <p:nvSpPr>
          <p:cNvPr id="11" name="Rectangle 10"/>
          <p:cNvSpPr/>
          <p:nvPr/>
        </p:nvSpPr>
        <p:spPr>
          <a:xfrm>
            <a:off x="2560320" y="4023360"/>
            <a:ext cx="1737360" cy="502920"/>
          </a:xfrm>
          <a:prstGeom prst="rect">
            <a:avLst/>
          </a:prstGeom>
          <a:solidFill>
            <a:srgbClr val="1A3060"/>
          </a:solidFill>
          <a:ln w="19050">
            <a:solidFill>
              <a:srgbClr val="F4A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560320" y="40233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A235"/>
                </a:solidFill>
                <a:latin typeface="Calibri"/>
              </a:rPr>
              <a:t>Power BI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0" y="4023360"/>
            <a:ext cx="1737360" cy="502920"/>
          </a:xfrm>
          <a:prstGeom prst="rect">
            <a:avLst/>
          </a:prstGeom>
          <a:solidFill>
            <a:srgbClr val="1A3060"/>
          </a:solidFill>
          <a:ln w="19050">
            <a:solidFill>
              <a:srgbClr val="F4A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4" name="TextBox 13"/>
          <p:cNvSpPr txBox="1"/>
          <p:nvPr/>
        </p:nvSpPr>
        <p:spPr>
          <a:xfrm>
            <a:off x="4572000" y="40233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A235"/>
                </a:solidFill>
                <a:latin typeface="Calibri"/>
              </a:rPr>
              <a:t>DAX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583680" y="4023360"/>
            <a:ext cx="1737360" cy="502920"/>
          </a:xfrm>
          <a:prstGeom prst="rect">
            <a:avLst/>
          </a:prstGeom>
          <a:solidFill>
            <a:srgbClr val="1A3060"/>
          </a:solidFill>
          <a:ln w="19050">
            <a:solidFill>
              <a:srgbClr val="F4A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6583680" y="4023360"/>
            <a:ext cx="173736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300" b="1" i="0">
                <a:solidFill>
                  <a:srgbClr val="F4A235"/>
                </a:solidFill>
                <a:latin typeface="Calibri"/>
              </a:rPr>
              <a:t>SQL</a:t>
            </a:r>
          </a:p>
        </p:txBody>
      </p:sp>
      <p:pic>
        <p:nvPicPr>
          <p:cNvPr id="17" name="Picture 16" descr="instacar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5734" y="241458"/>
            <a:ext cx="155448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A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4A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2200275" y="107049"/>
            <a:ext cx="51435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 dirty="0">
                <a:solidFill>
                  <a:srgbClr val="F4A235"/>
                </a:solidFill>
                <a:latin typeface="Calibri"/>
              </a:rPr>
              <a:t>Power BI Dashboard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82296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FFFFF"/>
                </a:solidFill>
                <a:latin typeface="Calibri"/>
              </a:rPr>
              <a:t>Instacart Capstone — Interactive Dashboard Overview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CCEA"/>
                </a:solidFill>
                <a:latin typeface="Calibri"/>
              </a:rPr>
              <a:t>KPIs  ·  Revenue by Product  ·  Department Filter</a:t>
            </a:r>
          </a:p>
        </p:txBody>
      </p:sp>
      <p:pic>
        <p:nvPicPr>
          <p:cNvPr id="7" name="Picture 6" descr="dashboard_screenshot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38" y="1124712"/>
            <a:ext cx="8412480" cy="3749039"/>
          </a:xfrm>
          <a:prstGeom prst="rect">
            <a:avLst/>
          </a:prstGeom>
        </p:spPr>
      </p:pic>
      <p:pic>
        <p:nvPicPr>
          <p:cNvPr id="8" name="Picture 7" descr="instacar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1431" y="76866"/>
            <a:ext cx="155448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A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43013" y="164592"/>
            <a:ext cx="6465094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FFFFFF"/>
                </a:solidFill>
                <a:latin typeface="Calibri"/>
              </a:rPr>
              <a:t>Project Overview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4A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51560"/>
            <a:ext cx="4114800" cy="347472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143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235"/>
                </a:solidFill>
                <a:latin typeface="Calibri"/>
              </a:rPr>
              <a:t>About the Dataset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155448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▸"/>
            </a:pPr>
            <a:r>
              <a:rPr sz="1100">
                <a:solidFill>
                  <a:srgbClr val="B8CCEA"/>
                </a:solidFill>
                <a:latin typeface="Calibri"/>
              </a:rPr>
              <a:t>  Source: Instacart online grocery platform</a:t>
            </a:r>
          </a:p>
          <a:p>
            <a:pPr algn="l">
              <a:buChar char="▸"/>
            </a:pPr>
            <a:r>
              <a:rPr sz="1100">
                <a:solidFill>
                  <a:srgbClr val="B8CCEA"/>
                </a:solidFill>
                <a:latin typeface="Calibri"/>
              </a:rPr>
              <a:t>  Period: 2015 – 2023 (8 years of transactions)</a:t>
            </a:r>
          </a:p>
          <a:p>
            <a:pPr algn="l">
              <a:buChar char="▸"/>
            </a:pPr>
            <a:r>
              <a:rPr sz="1100">
                <a:solidFill>
                  <a:srgbClr val="B8CCEA"/>
                </a:solidFill>
                <a:latin typeface="Calibri"/>
              </a:rPr>
              <a:t>  Database: PostgreSQL (psql shell)</a:t>
            </a:r>
          </a:p>
          <a:p>
            <a:pPr algn="l">
              <a:buChar char="▸"/>
            </a:pPr>
            <a:r>
              <a:rPr sz="1100">
                <a:solidFill>
                  <a:srgbClr val="B8CCEA"/>
                </a:solidFill>
                <a:latin typeface="Calibri"/>
              </a:rPr>
              <a:t>  Tables: orders, products, aisle, departments</a:t>
            </a:r>
          </a:p>
          <a:p>
            <a:pPr algn="l">
              <a:buChar char="▸"/>
            </a:pPr>
            <a:r>
              <a:rPr sz="1100">
                <a:solidFill>
                  <a:srgbClr val="B8CCEA"/>
                </a:solidFill>
                <a:latin typeface="Calibri"/>
              </a:rPr>
              <a:t>  1,048,575 order records in total</a:t>
            </a:r>
          </a:p>
          <a:p>
            <a:pPr algn="l">
              <a:buChar char="▸"/>
            </a:pPr>
            <a:r>
              <a:rPr sz="1100">
                <a:solidFill>
                  <a:srgbClr val="B8CCEA"/>
                </a:solidFill>
                <a:latin typeface="Calibri"/>
              </a:rPr>
              <a:t>  63,100 unique customers</a:t>
            </a:r>
          </a:p>
          <a:p>
            <a:pPr algn="l">
              <a:buChar char="▸"/>
            </a:pPr>
            <a:r>
              <a:rPr sz="1100">
                <a:solidFill>
                  <a:srgbClr val="B8CCEA"/>
                </a:solidFill>
                <a:latin typeface="Calibri"/>
              </a:rPr>
              <a:t>  $158.37M gross revenue captured</a:t>
            </a:r>
          </a:p>
          <a:p>
            <a:pPr algn="l">
              <a:buChar char="▸"/>
            </a:pPr>
            <a:r>
              <a:rPr sz="1100">
                <a:solidFill>
                  <a:srgbClr val="B8CCEA"/>
                </a:solidFill>
                <a:latin typeface="Calibri"/>
              </a:rPr>
              <a:t>  Connected to Power BI via direct query</a:t>
            </a:r>
          </a:p>
        </p:txBody>
      </p:sp>
      <p:sp>
        <p:nvSpPr>
          <p:cNvPr id="8" name="Rectangle 7"/>
          <p:cNvSpPr/>
          <p:nvPr/>
        </p:nvSpPr>
        <p:spPr>
          <a:xfrm>
            <a:off x="4663440" y="1051560"/>
            <a:ext cx="4114800" cy="347472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800600" y="1143000"/>
            <a:ext cx="3840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1" i="0">
                <a:solidFill>
                  <a:srgbClr val="F4A235"/>
                </a:solidFill>
                <a:latin typeface="Calibri"/>
              </a:rPr>
              <a:t>Business Objectives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00600" y="1554480"/>
            <a:ext cx="3840480" cy="2743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▸"/>
            </a:pPr>
            <a:r>
              <a:rPr sz="1100">
                <a:solidFill>
                  <a:srgbClr val="B8CCEA"/>
                </a:solidFill>
                <a:latin typeface="Calibri"/>
              </a:rPr>
              <a:t>  Identify profitable vs. underperforming aisles</a:t>
            </a:r>
          </a:p>
          <a:p>
            <a:pPr algn="l">
              <a:buChar char="▸"/>
            </a:pPr>
            <a:r>
              <a:rPr sz="1100">
                <a:solidFill>
                  <a:srgbClr val="B8CCEA"/>
                </a:solidFill>
                <a:latin typeface="Calibri"/>
              </a:rPr>
              <a:t>  Rank best &amp; worst products by sales volume &amp; revenue</a:t>
            </a:r>
          </a:p>
          <a:p>
            <a:pPr algn="l">
              <a:buChar char="▸"/>
            </a:pPr>
            <a:r>
              <a:rPr sz="1100">
                <a:solidFill>
                  <a:srgbClr val="B8CCEA"/>
                </a:solidFill>
                <a:latin typeface="Calibri"/>
              </a:rPr>
              <a:t>  Find peak order hours to optimize staff scheduling</a:t>
            </a:r>
          </a:p>
          <a:p>
            <a:pPr algn="l">
              <a:buChar char="▸"/>
            </a:pPr>
            <a:r>
              <a:rPr sz="1100">
                <a:solidFill>
                  <a:srgbClr val="B8CCEA"/>
                </a:solidFill>
                <a:latin typeface="Calibri"/>
              </a:rPr>
              <a:t>  Analyze revenue trends (2015–2022) for inventory planning</a:t>
            </a:r>
          </a:p>
          <a:p>
            <a:pPr algn="l">
              <a:buChar char="▸"/>
            </a:pPr>
            <a:r>
              <a:rPr sz="1100">
                <a:solidFill>
                  <a:srgbClr val="B8CCEA"/>
                </a:solidFill>
                <a:latin typeface="Calibri"/>
              </a:rPr>
              <a:t>  Deliver interactive Power BI KPI dashboard</a:t>
            </a:r>
          </a:p>
          <a:p>
            <a:pPr algn="l">
              <a:buChar char="▸"/>
            </a:pPr>
            <a:r>
              <a:rPr sz="1100">
                <a:solidFill>
                  <a:srgbClr val="B8CCEA"/>
                </a:solidFill>
                <a:latin typeface="Calibri"/>
              </a:rPr>
              <a:t>  Support data-driven stakeholder decisions</a:t>
            </a:r>
          </a:p>
        </p:txBody>
      </p:sp>
      <p:pic>
        <p:nvPicPr>
          <p:cNvPr id="11" name="Picture 10" descr="instacar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82296"/>
            <a:ext cx="155448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A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500186" y="164592"/>
            <a:ext cx="535781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>
                <a:solidFill>
                  <a:srgbClr val="FFFFFF"/>
                </a:solidFill>
                <a:latin typeface="Calibri"/>
              </a:rPr>
              <a:t>Data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CCEA"/>
                </a:solidFill>
                <a:latin typeface="Calibri"/>
              </a:rPr>
              <a:t>PostgreSQL schema — 4 core tables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4A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274320" y="1005840"/>
            <a:ext cx="2011680" cy="3566160"/>
          </a:xfrm>
          <a:prstGeom prst="rect">
            <a:avLst/>
          </a:prstGeom>
          <a:solidFill>
            <a:srgbClr val="1A3060"/>
          </a:solidFill>
          <a:ln w="254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274320" y="1005840"/>
            <a:ext cx="2011680" cy="38404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274320" y="10058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onsolas"/>
              </a:rPr>
              <a:t>public.orders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347472" y="1444752"/>
            <a:ext cx="1920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CCEA"/>
                </a:solidFill>
                <a:latin typeface="Consolas"/>
              </a:rPr>
              <a:t>  order_id (PK)
  user_id
  order_number
  order_dow
  order_hour_of_day
  days_since_prior
  quantity
  product_id (FK)</a:t>
            </a:r>
          </a:p>
        </p:txBody>
      </p:sp>
      <p:sp>
        <p:nvSpPr>
          <p:cNvPr id="10" name="Rectangle 9"/>
          <p:cNvSpPr/>
          <p:nvPr/>
        </p:nvSpPr>
        <p:spPr>
          <a:xfrm>
            <a:off x="2468879" y="1005840"/>
            <a:ext cx="2011680" cy="3566160"/>
          </a:xfrm>
          <a:prstGeom prst="rect">
            <a:avLst/>
          </a:prstGeom>
          <a:solidFill>
            <a:srgbClr val="1A3060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Rectangle 10"/>
          <p:cNvSpPr/>
          <p:nvPr/>
        </p:nvSpPr>
        <p:spPr>
          <a:xfrm>
            <a:off x="2468879" y="1005840"/>
            <a:ext cx="2011680" cy="38404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2468879" y="10058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onsolas"/>
              </a:rPr>
              <a:t>public.products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542032" y="1444752"/>
            <a:ext cx="1920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CCEA"/>
                </a:solidFill>
                <a:latin typeface="Consolas"/>
              </a:rPr>
              <a:t>  product_id (PK)
  product_name
  aisle_id (FK)
  department_id (FK)
  unit_price
  unit_cost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663440" y="1005840"/>
            <a:ext cx="2011680" cy="3566160"/>
          </a:xfrm>
          <a:prstGeom prst="rect">
            <a:avLst/>
          </a:prstGeom>
          <a:solidFill>
            <a:srgbClr val="1A3060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Rectangle 14"/>
          <p:cNvSpPr/>
          <p:nvPr/>
        </p:nvSpPr>
        <p:spPr>
          <a:xfrm>
            <a:off x="4663440" y="1005840"/>
            <a:ext cx="2011680" cy="384048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TextBox 15"/>
          <p:cNvSpPr txBox="1"/>
          <p:nvPr/>
        </p:nvSpPr>
        <p:spPr>
          <a:xfrm>
            <a:off x="4663440" y="10058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onsolas"/>
              </a:rPr>
              <a:t>public.aisle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736592" y="1444752"/>
            <a:ext cx="1920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CCEA"/>
                </a:solidFill>
                <a:latin typeface="Consolas"/>
              </a:rPr>
              <a:t>  aisle_id (PK)
  aisle</a:t>
            </a:r>
          </a:p>
        </p:txBody>
      </p:sp>
      <p:sp>
        <p:nvSpPr>
          <p:cNvPr id="18" name="Rectangle 17"/>
          <p:cNvSpPr/>
          <p:nvPr/>
        </p:nvSpPr>
        <p:spPr>
          <a:xfrm>
            <a:off x="6857999" y="1005840"/>
            <a:ext cx="2011680" cy="3566160"/>
          </a:xfrm>
          <a:prstGeom prst="rect">
            <a:avLst/>
          </a:prstGeom>
          <a:solidFill>
            <a:srgbClr val="1A3060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Rectangle 18"/>
          <p:cNvSpPr/>
          <p:nvPr/>
        </p:nvSpPr>
        <p:spPr>
          <a:xfrm>
            <a:off x="6857999" y="1005840"/>
            <a:ext cx="2011680" cy="38404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0" name="TextBox 19"/>
          <p:cNvSpPr txBox="1"/>
          <p:nvPr/>
        </p:nvSpPr>
        <p:spPr>
          <a:xfrm>
            <a:off x="6857999" y="1005840"/>
            <a:ext cx="201168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50" b="1" i="0">
                <a:solidFill>
                  <a:srgbClr val="FFFFFF"/>
                </a:solidFill>
                <a:latin typeface="Consolas"/>
              </a:rPr>
              <a:t>public.departments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931151" y="1444752"/>
            <a:ext cx="1920240" cy="3017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0" i="0">
                <a:solidFill>
                  <a:srgbClr val="B8CCEA"/>
                </a:solidFill>
                <a:latin typeface="Consolas"/>
              </a:rPr>
              <a:t>  department_id (PK)
  department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365760" y="4663440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1">
                <a:solidFill>
                  <a:srgbClr val="B8CCEA"/>
                </a:solidFill>
                <a:latin typeface="Calibri"/>
              </a:rPr>
              <a:t>Relationships:  orders → products (product_id)  ·  products → aisle (aisle_id)  ·  products → departments (department_id)</a:t>
            </a:r>
          </a:p>
        </p:txBody>
      </p:sp>
      <p:pic>
        <p:nvPicPr>
          <p:cNvPr id="23" name="Picture 22" descr="instacar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7159" y="164592"/>
            <a:ext cx="155448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A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700212" y="164592"/>
            <a:ext cx="4855463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FFFFFF"/>
                </a:solidFill>
                <a:latin typeface="Calibri"/>
              </a:rPr>
              <a:t>KPI Overview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CCEA"/>
                </a:solidFill>
                <a:latin typeface="Calibri"/>
              </a:rPr>
              <a:t>All-time totals — filter context removed via DAX ALL()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4A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182880" y="1097280"/>
            <a:ext cx="1600200" cy="228600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182880" y="114300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Total Revenue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82880" y="1600200"/>
            <a:ext cx="1600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Calibri"/>
              </a:rPr>
              <a:t>$158.37M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2880" y="246888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Gross revenue all-time</a:t>
            </a:r>
          </a:p>
        </p:txBody>
      </p:sp>
      <p:sp>
        <p:nvSpPr>
          <p:cNvPr id="10" name="Rectangle 9"/>
          <p:cNvSpPr/>
          <p:nvPr/>
        </p:nvSpPr>
        <p:spPr>
          <a:xfrm>
            <a:off x="1947672" y="1097280"/>
            <a:ext cx="1600200" cy="228600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1947672" y="114300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Total Orders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947672" y="1600200"/>
            <a:ext cx="1600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Calibri"/>
              </a:rPr>
              <a:t>1,048,575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947672" y="246888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Unique orders placed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712463" y="1097280"/>
            <a:ext cx="1600200" cy="2286000"/>
          </a:xfrm>
          <a:prstGeom prst="rect">
            <a:avLst/>
          </a:prstGeom>
          <a:solidFill>
            <a:srgbClr val="27AE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3712463" y="114300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Total Customers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712463" y="1600200"/>
            <a:ext cx="1600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Calibri"/>
              </a:rPr>
              <a:t>63,100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3712463" y="246888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Unique active customers</a:t>
            </a:r>
          </a:p>
        </p:txBody>
      </p:sp>
      <p:sp>
        <p:nvSpPr>
          <p:cNvPr id="18" name="Rectangle 17"/>
          <p:cNvSpPr/>
          <p:nvPr/>
        </p:nvSpPr>
        <p:spPr>
          <a:xfrm>
            <a:off x="5477256" y="1097280"/>
            <a:ext cx="1600200" cy="22860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9" name="TextBox 18"/>
          <p:cNvSpPr txBox="1"/>
          <p:nvPr/>
        </p:nvSpPr>
        <p:spPr>
          <a:xfrm>
            <a:off x="5477256" y="114300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Avg Order Value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77256" y="1600200"/>
            <a:ext cx="1600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Calibri"/>
              </a:rPr>
              <a:t>$151.03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77256" y="246888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Revenue per order</a:t>
            </a:r>
          </a:p>
        </p:txBody>
      </p:sp>
      <p:sp>
        <p:nvSpPr>
          <p:cNvPr id="22" name="Rectangle 21"/>
          <p:cNvSpPr/>
          <p:nvPr/>
        </p:nvSpPr>
        <p:spPr>
          <a:xfrm>
            <a:off x="7242048" y="1097280"/>
            <a:ext cx="1600200" cy="228600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7242048" y="1143000"/>
            <a:ext cx="16002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1" i="0">
                <a:solidFill>
                  <a:srgbClr val="FFFFFF"/>
                </a:solidFill>
                <a:latin typeface="Calibri"/>
              </a:rPr>
              <a:t>Profit Margin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242048" y="1600200"/>
            <a:ext cx="16002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100" b="1" i="0">
                <a:solidFill>
                  <a:srgbClr val="FFFFFF"/>
                </a:solidFill>
                <a:latin typeface="Calibri"/>
              </a:rPr>
              <a:t>0.26%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7242048" y="2468880"/>
            <a:ext cx="1600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900" b="0" i="1">
                <a:solidFill>
                  <a:srgbClr val="FFFFFF"/>
                </a:solidFill>
                <a:latin typeface="Calibri"/>
              </a:rPr>
              <a:t>Gross profit / Revenue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57200" y="3566160"/>
            <a:ext cx="8229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1">
                <a:solidFill>
                  <a:srgbClr val="B8CCEA"/>
                </a:solidFill>
                <a:latin typeface="Consolas"/>
              </a:rPr>
              <a:t>DAX: CALCULATE(SUMX / DISTINCTCOUNT / DIVIDE) with ALL('public orders') removes slicer filter context</a:t>
            </a:r>
          </a:p>
        </p:txBody>
      </p:sp>
      <p:sp>
        <p:nvSpPr>
          <p:cNvPr id="27" name="Rectangle 26"/>
          <p:cNvSpPr/>
          <p:nvPr/>
        </p:nvSpPr>
        <p:spPr>
          <a:xfrm>
            <a:off x="365760" y="3977639"/>
            <a:ext cx="8412480" cy="822960"/>
          </a:xfrm>
          <a:prstGeom prst="rect">
            <a:avLst/>
          </a:prstGeom>
          <a:solidFill>
            <a:srgbClr val="1A3060"/>
          </a:solidFill>
          <a:ln w="12700">
            <a:solidFill>
              <a:srgbClr val="F4A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502920" y="4005072"/>
            <a:ext cx="822960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INSIGHT: With 1M+ orders averaging $151 per basket across 63K customers, Instacart operates at significant scale. The 0.26% profit margin signals tight margins typical of grocery delivery — optimizing high-volume aisles is critical.</a:t>
            </a:r>
          </a:p>
        </p:txBody>
      </p:sp>
      <p:pic>
        <p:nvPicPr>
          <p:cNvPr id="29" name="Picture 28" descr="instacar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28600" y="164592"/>
            <a:ext cx="155448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A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4A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14413" y="109728"/>
            <a:ext cx="6265068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200" b="1" i="0" dirty="0">
                <a:solidFill>
                  <a:srgbClr val="F4A235"/>
                </a:solidFill>
                <a:latin typeface="Calibri"/>
              </a:rPr>
              <a:t>	</a:t>
            </a:r>
            <a:r>
              <a:rPr sz="1200" b="1" i="0" dirty="0">
                <a:solidFill>
                  <a:srgbClr val="F4A235"/>
                </a:solidFill>
                <a:latin typeface="Calibri"/>
              </a:rPr>
              <a:t>Business Problem 1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5486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Profitable Aisles Analysis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CCEA"/>
                </a:solidFill>
                <a:latin typeface="Calibri"/>
              </a:rPr>
              <a:t>Identifying High-Demand, Low-Margin Aisles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65760" y="1188720"/>
          <a:ext cx="539496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5943600" y="1188720"/>
            <a:ext cx="2834640" cy="164592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035040" y="1234440"/>
            <a:ext cx="27432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A235"/>
                </a:solidFill>
                <a:latin typeface="Calibri"/>
              </a:rPr>
              <a:t>Key Findings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035040" y="1600200"/>
            <a:ext cx="269748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▸"/>
            </a:pPr>
            <a:r>
              <a:rPr sz="1000">
                <a:solidFill>
                  <a:srgbClr val="B8CCEA"/>
                </a:solidFill>
                <a:latin typeface="Calibri"/>
              </a:rPr>
              <a:t>  Yogurt &amp; white wines lead all aisles by revenue</a:t>
            </a:r>
          </a:p>
          <a:p>
            <a:pPr algn="l">
              <a:buChar char="▸"/>
            </a:pPr>
            <a:r>
              <a:rPr sz="1000">
                <a:solidFill>
                  <a:srgbClr val="B8CCEA"/>
                </a:solidFill>
                <a:latin typeface="Calibri"/>
              </a:rPr>
              <a:t>  Top 5 aisles all exceed $148M combined revenue</a:t>
            </a:r>
          </a:p>
          <a:p>
            <a:pPr algn="l">
              <a:buChar char="▸"/>
            </a:pPr>
            <a:r>
              <a:rPr sz="1000">
                <a:solidFill>
                  <a:srgbClr val="B8CCEA"/>
                </a:solidFill>
                <a:latin typeface="Calibri"/>
              </a:rPr>
              <a:t>  ~1M orders each in top aisles (near-equal demand)</a:t>
            </a:r>
          </a:p>
          <a:p>
            <a:pPr algn="l">
              <a:buChar char="▸"/>
            </a:pPr>
            <a:r>
              <a:rPr sz="1000">
                <a:solidFill>
                  <a:srgbClr val="B8CCEA"/>
                </a:solidFill>
                <a:latin typeface="Calibri"/>
              </a:rPr>
              <a:t>  High demand ≠ high profit — margin analysis needed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943600" y="2926080"/>
            <a:ext cx="2834640" cy="1645920"/>
          </a:xfrm>
          <a:prstGeom prst="rect">
            <a:avLst/>
          </a:prstGeom>
          <a:solidFill>
            <a:srgbClr val="1A3060"/>
          </a:solidFill>
          <a:ln w="12700">
            <a:solidFill>
              <a:srgbClr val="F4A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6035040" y="2971800"/>
            <a:ext cx="2743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A235"/>
                </a:solidFill>
                <a:latin typeface="Calibri"/>
              </a:rPr>
              <a:t>Recommendation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035040" y="3337560"/>
            <a:ext cx="269748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B8CCEA"/>
                </a:solidFill>
                <a:latin typeface="Calibri"/>
              </a:rPr>
              <a:t>Negotiate better supplier pricing for top-volume aisles. Remove or reprice items in aisles with &lt;0.5% margin. Bundle high-margin products with top-demand aisles.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4416552"/>
            <a:ext cx="5394960" cy="594360"/>
          </a:xfrm>
          <a:prstGeom prst="rect">
            <a:avLst/>
          </a:prstGeom>
          <a:solidFill>
            <a:srgbClr val="080F20"/>
          </a:solidFill>
          <a:ln w="12700">
            <a:solidFill>
              <a:srgbClr val="2A3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57200" y="4443984"/>
            <a:ext cx="521208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DCFE"/>
                </a:solidFill>
                <a:latin typeface="Consolas"/>
              </a:rPr>
              <a:t>SELECT a.aisle, SUM(o.quantity * p.unit_price) AS revenue
FROM public.orders o JOIN public.products p ON o.product_id=p.product_id
JOIN public.aisle a ON p.aisle_id=a.aisle_id GROUP BY a.aisle ORDER BY revenue DESC;</a:t>
            </a:r>
          </a:p>
        </p:txBody>
      </p:sp>
      <p:pic>
        <p:nvPicPr>
          <p:cNvPr id="16" name="Picture 15" descr="instacar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5728" y="301752"/>
            <a:ext cx="155448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A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4A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1556" y="109728"/>
            <a:ext cx="76652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A235"/>
                </a:solidFill>
                <a:latin typeface="Calibri"/>
              </a:rPr>
              <a:t>Business Problem 2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84048"/>
            <a:ext cx="6529388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 dirty="0">
                <a:solidFill>
                  <a:srgbClr val="FFFFFF"/>
                </a:solidFill>
                <a:latin typeface="Calibri"/>
              </a:rPr>
              <a:t>Best &amp; Worst Selling Products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CCEA"/>
                </a:solidFill>
                <a:latin typeface="Calibri"/>
              </a:rPr>
              <a:t>Top &amp; Bottom Performers by Revenue Volume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09263607"/>
              </p:ext>
            </p:extLst>
          </p:nvPr>
        </p:nvGraphicFramePr>
        <p:xfrm>
          <a:off x="502920" y="1050132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graphicFrame>
        <p:nvGraphicFramePr>
          <p:cNvPr id="8" name="Chart 7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08689661"/>
              </p:ext>
            </p:extLst>
          </p:nvPr>
        </p:nvGraphicFramePr>
        <p:xfrm>
          <a:off x="4663440" y="1143000"/>
          <a:ext cx="4114800" cy="256032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sp>
        <p:nvSpPr>
          <p:cNvPr id="9" name="Rectangle 8"/>
          <p:cNvSpPr/>
          <p:nvPr/>
        </p:nvSpPr>
        <p:spPr>
          <a:xfrm>
            <a:off x="365760" y="3840480"/>
            <a:ext cx="4114800" cy="960120"/>
          </a:xfrm>
          <a:prstGeom prst="rect">
            <a:avLst/>
          </a:prstGeom>
          <a:solidFill>
            <a:srgbClr val="1A3060"/>
          </a:solidFill>
          <a:ln w="12700">
            <a:solidFill>
              <a:srgbClr val="27AE6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0" name="TextBox 9"/>
          <p:cNvSpPr txBox="1"/>
          <p:nvPr/>
        </p:nvSpPr>
        <p:spPr>
          <a:xfrm>
            <a:off x="502920" y="388620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TOP PERFORMERS: Promote fresh produce (Banana, Strawberries, Avocado) via targeted marketing campaigns. These items have high reorder rates and broad appeal.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663440" y="3840480"/>
            <a:ext cx="4114800" cy="960120"/>
          </a:xfrm>
          <a:prstGeom prst="rect">
            <a:avLst/>
          </a:prstGeom>
          <a:solidFill>
            <a:srgbClr val="1A3060"/>
          </a:solidFill>
          <a:ln w="12700">
            <a:solidFill>
              <a:srgbClr val="E74C3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TextBox 11"/>
          <p:cNvSpPr txBox="1"/>
          <p:nvPr/>
        </p:nvSpPr>
        <p:spPr>
          <a:xfrm>
            <a:off x="4800600" y="3886200"/>
            <a:ext cx="393192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FFFFFF"/>
                </a:solidFill>
                <a:latin typeface="Calibri"/>
              </a:rPr>
              <a:t>LOW PERFORMERS: Evaluate bottom products for discontinuation or re-pricing. Specialty niche items have low turnover and tie up inventory capital.</a:t>
            </a:r>
          </a:p>
        </p:txBody>
      </p:sp>
      <p:pic>
        <p:nvPicPr>
          <p:cNvPr id="13" name="Picture 12" descr="instacart_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1440" y="192024"/>
            <a:ext cx="155448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A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4A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021556" y="109728"/>
            <a:ext cx="7665244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A235"/>
                </a:solidFill>
                <a:latin typeface="Calibri"/>
              </a:rPr>
              <a:t>Business Problem 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384048"/>
            <a:ext cx="73152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 dirty="0">
                <a:solidFill>
                  <a:srgbClr val="FFFFFF"/>
                </a:solidFill>
                <a:latin typeface="Calibri"/>
              </a:rPr>
              <a:t>Best Time of Day for Orders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CCEA"/>
                </a:solidFill>
                <a:latin typeface="Calibri"/>
              </a:rPr>
              <a:t>Identifying Peak Hours to Optimise Staff Scheduling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/>
        </p:nvGraphicFramePr>
        <p:xfrm>
          <a:off x="365760" y="1143000"/>
          <a:ext cx="557784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Rectangle 7"/>
          <p:cNvSpPr/>
          <p:nvPr/>
        </p:nvSpPr>
        <p:spPr>
          <a:xfrm>
            <a:off x="6126480" y="1143000"/>
            <a:ext cx="2651760" cy="91440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6126480" y="1170432"/>
            <a:ext cx="265176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 i="0">
                <a:solidFill>
                  <a:srgbClr val="0D1B3E"/>
                </a:solidFill>
                <a:latin typeface="Calibri"/>
              </a:rPr>
              <a:t>PEAK WINDOW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6126480" y="1463040"/>
            <a:ext cx="26517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1" i="0">
                <a:solidFill>
                  <a:srgbClr val="0D1B3E"/>
                </a:solidFill>
                <a:latin typeface="Calibri"/>
              </a:rPr>
              <a:t>10 AM – 2 PM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126480" y="1865376"/>
            <a:ext cx="2651760" cy="182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1">
                <a:solidFill>
                  <a:srgbClr val="0D1B3E"/>
                </a:solidFill>
                <a:latin typeface="Calibri"/>
              </a:rPr>
              <a:t>~80K orders / hour</a:t>
            </a:r>
          </a:p>
        </p:txBody>
      </p:sp>
      <p:sp>
        <p:nvSpPr>
          <p:cNvPr id="12" name="Rectangle 11"/>
          <p:cNvSpPr/>
          <p:nvPr/>
        </p:nvSpPr>
        <p:spPr>
          <a:xfrm>
            <a:off x="6126480" y="2148840"/>
            <a:ext cx="2651760" cy="68580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6126480" y="2167128"/>
            <a:ext cx="265176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B8CCEA"/>
                </a:solidFill>
                <a:latin typeface="Calibri"/>
              </a:rPr>
              <a:t>QUIET WINDOW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42316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00" b="0" i="0">
                <a:solidFill>
                  <a:srgbClr val="B8CCEA"/>
                </a:solidFill>
                <a:latin typeface="Calibri"/>
              </a:rPr>
              <a:t>Midnight – 5 AM  (&lt;1K/hr)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126480" y="2926080"/>
            <a:ext cx="2651760" cy="1645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▸"/>
            </a:pPr>
            <a:r>
              <a:rPr sz="1000">
                <a:solidFill>
                  <a:srgbClr val="B8CCEA"/>
                </a:solidFill>
                <a:latin typeface="Calibri"/>
              </a:rPr>
              <a:t>  Peak: hours 10–14, topping 82K orders at noon</a:t>
            </a:r>
          </a:p>
          <a:p>
            <a:pPr algn="l">
              <a:buChar char="▸"/>
            </a:pPr>
            <a:r>
              <a:rPr sz="1000">
                <a:solidFill>
                  <a:srgbClr val="B8CCEA"/>
                </a:solidFill>
                <a:latin typeface="Calibri"/>
              </a:rPr>
              <a:t>  Second rise: 7–9 AM morning commute window</a:t>
            </a:r>
          </a:p>
          <a:p>
            <a:pPr algn="l">
              <a:buChar char="▸"/>
            </a:pPr>
            <a:r>
              <a:rPr sz="1000">
                <a:solidFill>
                  <a:srgbClr val="B8CCEA"/>
                </a:solidFill>
                <a:latin typeface="Calibri"/>
              </a:rPr>
              <a:t>  Saturday (DOW 6) is the busiest day overall</a:t>
            </a:r>
          </a:p>
          <a:p>
            <a:pPr algn="l">
              <a:buChar char="▸"/>
            </a:pPr>
            <a:r>
              <a:rPr sz="1000">
                <a:solidFill>
                  <a:srgbClr val="B8CCEA"/>
                </a:solidFill>
                <a:latin typeface="Calibri"/>
              </a:rPr>
              <a:t>  Activity drops sharply after 8 PM</a:t>
            </a:r>
          </a:p>
          <a:p>
            <a:pPr algn="l">
              <a:buChar char="▸"/>
            </a:pPr>
            <a:r>
              <a:rPr sz="1000">
                <a:solidFill>
                  <a:srgbClr val="B8CCEA"/>
                </a:solidFill>
                <a:latin typeface="Calibri"/>
              </a:rPr>
              <a:t>  Lowest point: 3–4 AM with ~350 orders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4389120"/>
            <a:ext cx="8412480" cy="594360"/>
          </a:xfrm>
          <a:prstGeom prst="rect">
            <a:avLst/>
          </a:prstGeom>
          <a:solidFill>
            <a:srgbClr val="1A3060"/>
          </a:solidFill>
          <a:ln w="12700">
            <a:solidFill>
              <a:srgbClr val="F4A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502920" y="44165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ACTION: Max staffing 10 AM–2 PM daily. Reduce shifts 12 AM–5 AM. Consider weekend surge pricing or Saturday-specific promotions to capitalise on peak DOW.</a:t>
            </a:r>
          </a:p>
        </p:txBody>
      </p:sp>
      <p:pic>
        <p:nvPicPr>
          <p:cNvPr id="18" name="Picture 17" descr="instacar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8584" y="194703"/>
            <a:ext cx="155448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A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Rectangle 2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4A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4" name="TextBox 3"/>
          <p:cNvSpPr txBox="1"/>
          <p:nvPr/>
        </p:nvSpPr>
        <p:spPr>
          <a:xfrm>
            <a:off x="1214438" y="109728"/>
            <a:ext cx="74723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4A235"/>
                </a:solidFill>
                <a:latin typeface="Calibri"/>
              </a:rPr>
              <a:t>Business Problem 4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057274" y="384048"/>
            <a:ext cx="7629525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600" b="1" i="0">
                <a:solidFill>
                  <a:srgbClr val="FFFFFF"/>
                </a:solidFill>
                <a:latin typeface="Calibri"/>
              </a:rPr>
              <a:t>Sales Trend Analysis  |  2015 – 2022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850392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CCEA"/>
                </a:solidFill>
                <a:latin typeface="Calibri"/>
              </a:rPr>
              <a:t>Revenue Growth &amp; Seasonal Patterns</a:t>
            </a:r>
          </a:p>
        </p:txBody>
      </p:sp>
      <p:graphicFrame>
        <p:nvGraphicFramePr>
          <p:cNvPr id="7" name="Chart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242881833"/>
              </p:ext>
            </p:extLst>
          </p:nvPr>
        </p:nvGraphicFramePr>
        <p:xfrm>
          <a:off x="365760" y="1143000"/>
          <a:ext cx="5577840" cy="315468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2"/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6126480" y="1143000"/>
            <a:ext cx="28346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4A235"/>
                </a:solidFill>
                <a:latin typeface="Calibri"/>
              </a:rPr>
              <a:t>Key Observations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126480" y="1554480"/>
            <a:ext cx="2834640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buChar char="▸"/>
            </a:pPr>
            <a:r>
              <a:rPr sz="1050">
                <a:solidFill>
                  <a:srgbClr val="B8CCEA"/>
                </a:solidFill>
                <a:latin typeface="Calibri"/>
              </a:rPr>
              <a:t>  Steady growth 2015–2021 (+20.4% over 6 years)</a:t>
            </a:r>
          </a:p>
          <a:p>
            <a:pPr algn="l">
              <a:buChar char="▸"/>
            </a:pPr>
            <a:r>
              <a:rPr sz="1050">
                <a:solidFill>
                  <a:srgbClr val="B8CCEA"/>
                </a:solidFill>
                <a:latin typeface="Calibri"/>
              </a:rPr>
              <a:t>  Peak year: 2021 at $1.71M</a:t>
            </a:r>
          </a:p>
          <a:p>
            <a:pPr algn="l">
              <a:buChar char="▸"/>
            </a:pPr>
            <a:r>
              <a:rPr sz="1050">
                <a:solidFill>
                  <a:srgbClr val="B8CCEA"/>
                </a:solidFill>
                <a:latin typeface="Calibri"/>
              </a:rPr>
              <a:t>  2022 dip to $1.48M — post-pandemic normalisation</a:t>
            </a:r>
          </a:p>
          <a:p>
            <a:pPr algn="l">
              <a:buChar char="▸"/>
            </a:pPr>
            <a:r>
              <a:rPr sz="1050">
                <a:solidFill>
                  <a:srgbClr val="B8CCEA"/>
                </a:solidFill>
                <a:latin typeface="Calibri"/>
              </a:rPr>
              <a:t>  2020 shows resilience despite COVID disruption</a:t>
            </a:r>
          </a:p>
          <a:p>
            <a:pPr algn="l">
              <a:buChar char="▸"/>
            </a:pPr>
            <a:r>
              <a:rPr sz="1050">
                <a:solidFill>
                  <a:srgbClr val="B8CCEA"/>
                </a:solidFill>
                <a:latin typeface="Calibri"/>
              </a:rPr>
              <a:t>  Month slicer enables seasonal drill-down</a:t>
            </a:r>
          </a:p>
          <a:p>
            <a:pPr algn="l">
              <a:buChar char="▸"/>
            </a:pPr>
            <a:r>
              <a:rPr sz="1050">
                <a:solidFill>
                  <a:srgbClr val="B8CCEA"/>
                </a:solidFill>
                <a:latin typeface="Calibri"/>
              </a:rPr>
              <a:t>  Data subset: ~1.5M/yr of the $158M total</a:t>
            </a:r>
          </a:p>
        </p:txBody>
      </p:sp>
      <p:sp>
        <p:nvSpPr>
          <p:cNvPr id="10" name="Rectangle 9"/>
          <p:cNvSpPr/>
          <p:nvPr/>
        </p:nvSpPr>
        <p:spPr>
          <a:xfrm>
            <a:off x="365760" y="4389120"/>
            <a:ext cx="8412480" cy="594360"/>
          </a:xfrm>
          <a:prstGeom prst="rect">
            <a:avLst/>
          </a:prstGeom>
          <a:solidFill>
            <a:srgbClr val="1A3060"/>
          </a:solidFill>
          <a:ln w="12700">
            <a:solidFill>
              <a:srgbClr val="F4A23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502920" y="4416552"/>
            <a:ext cx="82296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FFFFF"/>
                </a:solidFill>
                <a:latin typeface="Calibri"/>
              </a:rPr>
              <a:t>ACTION: Pre-stock high-demand items ahead of Q2–Q3 peaks. Investigate 2022 dip — supply chain, competition, or data gaps — and build contingency inventory buffers for future dips.</a:t>
            </a:r>
          </a:p>
        </p:txBody>
      </p:sp>
      <p:pic>
        <p:nvPicPr>
          <p:cNvPr id="12" name="Picture 11" descr="instacart_logo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0015" y="270034"/>
            <a:ext cx="155448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A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528762" y="164592"/>
            <a:ext cx="7158037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 dirty="0">
                <a:solidFill>
                  <a:srgbClr val="FFFFFF"/>
                </a:solidFill>
                <a:latin typeface="Calibri"/>
              </a:rPr>
              <a:t>PostgreSQL Queries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CCEA"/>
                </a:solidFill>
                <a:latin typeface="Calibri"/>
              </a:rPr>
              <a:t>Key SQL used to extract Instacart insights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4A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4114800" cy="347472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TextBox 6"/>
          <p:cNvSpPr txBox="1"/>
          <p:nvPr/>
        </p:nvSpPr>
        <p:spPr>
          <a:xfrm>
            <a:off x="438912" y="100584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4A235"/>
                </a:solidFill>
                <a:latin typeface="Calibri"/>
              </a:rPr>
              <a:t>KPIs — Revenue, Orders, Customers</a:t>
            </a:r>
          </a:p>
        </p:txBody>
      </p:sp>
      <p:sp>
        <p:nvSpPr>
          <p:cNvPr id="8" name="Rectangle 7"/>
          <p:cNvSpPr/>
          <p:nvPr/>
        </p:nvSpPr>
        <p:spPr>
          <a:xfrm>
            <a:off x="365760" y="1353312"/>
            <a:ext cx="4114800" cy="1417320"/>
          </a:xfrm>
          <a:prstGeom prst="rect">
            <a:avLst/>
          </a:prstGeom>
          <a:solidFill>
            <a:srgbClr val="080F20"/>
          </a:solidFill>
          <a:ln w="12700">
            <a:solidFill>
              <a:srgbClr val="2A3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457200" y="1389888"/>
            <a:ext cx="397763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 dirty="0">
                <a:solidFill>
                  <a:srgbClr val="9CDCFE"/>
                </a:solidFill>
                <a:latin typeface="Consolas"/>
              </a:rPr>
              <a:t>SELECT
  SUM(</a:t>
            </a:r>
            <a:r>
              <a:rPr sz="850" b="0" i="0" dirty="0" err="1">
                <a:solidFill>
                  <a:srgbClr val="9CDCFE"/>
                </a:solidFill>
                <a:latin typeface="Consolas"/>
              </a:rPr>
              <a:t>o.quantity</a:t>
            </a:r>
            <a:r>
              <a:rPr sz="850" b="0" i="0" dirty="0">
                <a:solidFill>
                  <a:srgbClr val="9CDCFE"/>
                </a:solidFill>
                <a:latin typeface="Consolas"/>
              </a:rPr>
              <a:t> * </a:t>
            </a:r>
            <a:r>
              <a:rPr sz="850" b="0" i="0" dirty="0" err="1">
                <a:solidFill>
                  <a:srgbClr val="9CDCFE"/>
                </a:solidFill>
                <a:latin typeface="Consolas"/>
              </a:rPr>
              <a:t>p.unit_price</a:t>
            </a:r>
            <a:r>
              <a:rPr sz="850" b="0" i="0" dirty="0">
                <a:solidFill>
                  <a:srgbClr val="9CDCFE"/>
                </a:solidFill>
                <a:latin typeface="Consolas"/>
              </a:rPr>
              <a:t>)      AS </a:t>
            </a:r>
            <a:r>
              <a:rPr sz="850" b="0" i="0" dirty="0" err="1">
                <a:solidFill>
                  <a:srgbClr val="9CDCFE"/>
                </a:solidFill>
                <a:latin typeface="Consolas"/>
              </a:rPr>
              <a:t>total_revenue</a:t>
            </a:r>
            <a:r>
              <a:rPr sz="850" b="0" i="0" dirty="0">
                <a:solidFill>
                  <a:srgbClr val="9CDCFE"/>
                </a:solidFill>
                <a:latin typeface="Consolas"/>
              </a:rPr>
              <a:t>,
  COUNT(DISTINCT </a:t>
            </a:r>
            <a:r>
              <a:rPr sz="850" b="0" i="0" dirty="0" err="1">
                <a:solidFill>
                  <a:srgbClr val="9CDCFE"/>
                </a:solidFill>
                <a:latin typeface="Consolas"/>
              </a:rPr>
              <a:t>o.order_id</a:t>
            </a:r>
            <a:r>
              <a:rPr sz="850" b="0" i="0" dirty="0">
                <a:solidFill>
                  <a:srgbClr val="9CDCFE"/>
                </a:solidFill>
                <a:latin typeface="Consolas"/>
              </a:rPr>
              <a:t>)          AS </a:t>
            </a:r>
            <a:r>
              <a:rPr sz="850" b="0" i="0" dirty="0" err="1">
                <a:solidFill>
                  <a:srgbClr val="9CDCFE"/>
                </a:solidFill>
                <a:latin typeface="Consolas"/>
              </a:rPr>
              <a:t>total_orders</a:t>
            </a:r>
            <a:r>
              <a:rPr sz="850" b="0" i="0" dirty="0">
                <a:solidFill>
                  <a:srgbClr val="9CDCFE"/>
                </a:solidFill>
                <a:latin typeface="Consolas"/>
              </a:rPr>
              <a:t>,
  COUNT(DISTINCT </a:t>
            </a:r>
            <a:r>
              <a:rPr sz="850" b="0" i="0" dirty="0" err="1">
                <a:solidFill>
                  <a:srgbClr val="9CDCFE"/>
                </a:solidFill>
                <a:latin typeface="Consolas"/>
              </a:rPr>
              <a:t>o.user_id</a:t>
            </a:r>
            <a:r>
              <a:rPr sz="850" b="0" i="0" dirty="0">
                <a:solidFill>
                  <a:srgbClr val="9CDCFE"/>
                </a:solidFill>
                <a:latin typeface="Consolas"/>
              </a:rPr>
              <a:t>)           AS </a:t>
            </a:r>
            <a:r>
              <a:rPr sz="850" b="0" i="0" dirty="0" err="1">
                <a:solidFill>
                  <a:srgbClr val="9CDCFE"/>
                </a:solidFill>
                <a:latin typeface="Consolas"/>
              </a:rPr>
              <a:t>total_customers</a:t>
            </a:r>
            <a:r>
              <a:rPr sz="850" b="0" i="0" dirty="0">
                <a:solidFill>
                  <a:srgbClr val="9CDCFE"/>
                </a:solidFill>
                <a:latin typeface="Consolas"/>
              </a:rPr>
              <a:t>,
  SUM(</a:t>
            </a:r>
            <a:r>
              <a:rPr sz="850" b="0" i="0" dirty="0" err="1">
                <a:solidFill>
                  <a:srgbClr val="9CDCFE"/>
                </a:solidFill>
                <a:latin typeface="Consolas"/>
              </a:rPr>
              <a:t>o.quantity</a:t>
            </a:r>
            <a:r>
              <a:rPr sz="850" b="0" i="0" dirty="0">
                <a:solidFill>
                  <a:srgbClr val="9CDCFE"/>
                </a:solidFill>
                <a:latin typeface="Consolas"/>
              </a:rPr>
              <a:t> * </a:t>
            </a:r>
            <a:r>
              <a:rPr sz="850" b="0" i="0" dirty="0" err="1">
                <a:solidFill>
                  <a:srgbClr val="9CDCFE"/>
                </a:solidFill>
                <a:latin typeface="Consolas"/>
              </a:rPr>
              <a:t>p.unit_price</a:t>
            </a:r>
            <a:r>
              <a:rPr sz="850" b="0" i="0" dirty="0">
                <a:solidFill>
                  <a:srgbClr val="9CDCFE"/>
                </a:solidFill>
                <a:latin typeface="Consolas"/>
              </a:rPr>
              <a:t>)
    / COUNT(DISTINCT </a:t>
            </a:r>
            <a:r>
              <a:rPr sz="850" b="0" i="0" dirty="0" err="1">
                <a:solidFill>
                  <a:srgbClr val="9CDCFE"/>
                </a:solidFill>
                <a:latin typeface="Consolas"/>
              </a:rPr>
              <a:t>o.order_id</a:t>
            </a:r>
            <a:r>
              <a:rPr sz="850" b="0" i="0" dirty="0">
                <a:solidFill>
                  <a:srgbClr val="9CDCFE"/>
                </a:solidFill>
                <a:latin typeface="Consolas"/>
              </a:rPr>
              <a:t>)      AS </a:t>
            </a:r>
            <a:r>
              <a:rPr sz="850" b="0" i="0" dirty="0" err="1">
                <a:solidFill>
                  <a:srgbClr val="9CDCFE"/>
                </a:solidFill>
                <a:latin typeface="Consolas"/>
              </a:rPr>
              <a:t>avg_order_value</a:t>
            </a:r>
            <a:r>
              <a:rPr sz="850" b="0" i="0" dirty="0">
                <a:solidFill>
                  <a:srgbClr val="9CDCFE"/>
                </a:solidFill>
                <a:latin typeface="Consolas"/>
              </a:rPr>
              <a:t>
FROM </a:t>
            </a:r>
            <a:r>
              <a:rPr sz="850" b="0" i="0" dirty="0" err="1">
                <a:solidFill>
                  <a:srgbClr val="9CDCFE"/>
                </a:solidFill>
                <a:latin typeface="Consolas"/>
              </a:rPr>
              <a:t>public.orders</a:t>
            </a:r>
            <a:r>
              <a:rPr sz="850" b="0" i="0" dirty="0">
                <a:solidFill>
                  <a:srgbClr val="9CDCFE"/>
                </a:solidFill>
                <a:latin typeface="Consolas"/>
              </a:rPr>
              <a:t> o
JOIN </a:t>
            </a:r>
            <a:r>
              <a:rPr sz="850" b="0" i="0" dirty="0" err="1">
                <a:solidFill>
                  <a:srgbClr val="9CDCFE"/>
                </a:solidFill>
                <a:latin typeface="Consolas"/>
              </a:rPr>
              <a:t>public.products</a:t>
            </a:r>
            <a:r>
              <a:rPr sz="850" b="0" i="0" dirty="0">
                <a:solidFill>
                  <a:srgbClr val="9CDCFE"/>
                </a:solidFill>
                <a:latin typeface="Consolas"/>
              </a:rPr>
              <a:t> p ON </a:t>
            </a:r>
            <a:r>
              <a:rPr sz="850" b="0" i="0" dirty="0" err="1">
                <a:solidFill>
                  <a:srgbClr val="9CDCFE"/>
                </a:solidFill>
                <a:latin typeface="Consolas"/>
              </a:rPr>
              <a:t>o.product_id</a:t>
            </a:r>
            <a:r>
              <a:rPr sz="850" b="0" i="0" dirty="0">
                <a:solidFill>
                  <a:srgbClr val="9CDCFE"/>
                </a:solidFill>
                <a:latin typeface="Consolas"/>
              </a:rPr>
              <a:t> = </a:t>
            </a:r>
            <a:r>
              <a:rPr sz="850" b="0" i="0" dirty="0" err="1">
                <a:solidFill>
                  <a:srgbClr val="9CDCFE"/>
                </a:solidFill>
                <a:latin typeface="Consolas"/>
              </a:rPr>
              <a:t>p.product_id</a:t>
            </a:r>
            <a:r>
              <a:rPr sz="850" b="0" i="0" dirty="0">
                <a:solidFill>
                  <a:srgbClr val="9CDCFE"/>
                </a:solidFill>
                <a:latin typeface="Consolas"/>
              </a:rPr>
              <a:t>;</a:t>
            </a:r>
          </a:p>
        </p:txBody>
      </p:sp>
      <p:sp>
        <p:nvSpPr>
          <p:cNvPr id="10" name="Rectangle 9"/>
          <p:cNvSpPr/>
          <p:nvPr/>
        </p:nvSpPr>
        <p:spPr>
          <a:xfrm>
            <a:off x="4663440" y="1005840"/>
            <a:ext cx="4114800" cy="347472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1" name="TextBox 10"/>
          <p:cNvSpPr txBox="1"/>
          <p:nvPr/>
        </p:nvSpPr>
        <p:spPr>
          <a:xfrm>
            <a:off x="4736592" y="1005840"/>
            <a:ext cx="402336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4A235"/>
                </a:solidFill>
                <a:latin typeface="Calibri"/>
              </a:rPr>
              <a:t>Peak Hour Analysis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663440" y="1353312"/>
            <a:ext cx="4114800" cy="1417320"/>
          </a:xfrm>
          <a:prstGeom prst="rect">
            <a:avLst/>
          </a:prstGeom>
          <a:solidFill>
            <a:srgbClr val="080F20"/>
          </a:solidFill>
          <a:ln w="12700">
            <a:solidFill>
              <a:srgbClr val="2A3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79" y="1389888"/>
            <a:ext cx="3977639" cy="1325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DCFE"/>
                </a:solidFill>
                <a:latin typeface="Consolas"/>
              </a:rPr>
              <a:t>SELECT order_hour_of_day,
       COUNT(*) AS order_count
FROM   public.orders
GROUP  BY order_hour_of_day
ORDER  BY order_count DESC;</a:t>
            </a:r>
          </a:p>
        </p:txBody>
      </p:sp>
      <p:sp>
        <p:nvSpPr>
          <p:cNvPr id="14" name="Rectangle 13"/>
          <p:cNvSpPr/>
          <p:nvPr/>
        </p:nvSpPr>
        <p:spPr>
          <a:xfrm>
            <a:off x="365760" y="2926080"/>
            <a:ext cx="8412480" cy="347472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5" name="TextBox 14"/>
          <p:cNvSpPr txBox="1"/>
          <p:nvPr/>
        </p:nvSpPr>
        <p:spPr>
          <a:xfrm>
            <a:off x="438912" y="2926080"/>
            <a:ext cx="832104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1" i="0">
                <a:solidFill>
                  <a:srgbClr val="F4A235"/>
                </a:solidFill>
                <a:latin typeface="Calibri"/>
              </a:rPr>
              <a:t>Revenue by Aisle (Profitability)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3273552"/>
            <a:ext cx="8412480" cy="1554480"/>
          </a:xfrm>
          <a:prstGeom prst="rect">
            <a:avLst/>
          </a:prstGeom>
          <a:solidFill>
            <a:srgbClr val="080F20"/>
          </a:solidFill>
          <a:ln w="12700">
            <a:solidFill>
              <a:srgbClr val="2A3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457200" y="3310128"/>
            <a:ext cx="8275319" cy="14630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0">
                <a:solidFill>
                  <a:srgbClr val="9CDCFE"/>
                </a:solidFill>
                <a:latin typeface="Consolas"/>
              </a:rPr>
              <a:t>SELECT a.aisle,
       SUM(o.quantity * p.unit_price)  AS revenue,
       SUM(o.quantity * (p.unit_price - p.unit_cost)) AS gross_profit
FROM   public.orders o
JOIN   public.products p ON o.product_id = p.product_id
JOIN   public.aisle    a ON p.aisle_id   = a.aisle_id
GROUP  BY a.aisle ORDER BY revenue DESC LIMIT 20;</a:t>
            </a:r>
          </a:p>
        </p:txBody>
      </p:sp>
      <p:pic>
        <p:nvPicPr>
          <p:cNvPr id="18" name="Picture 17" descr="instacar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7165" y="248603"/>
            <a:ext cx="155448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A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607344" y="164592"/>
            <a:ext cx="7079456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  <a:latin typeface="Calibri"/>
              </a:rPr>
              <a:t>Power BI — DAX Measures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CCEA"/>
                </a:solidFill>
                <a:latin typeface="Calibri"/>
              </a:rPr>
              <a:t>Calculated measures in the Calculated Measure table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4A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960120"/>
            <a:ext cx="4114800" cy="1234440"/>
          </a:xfrm>
          <a:prstGeom prst="rect">
            <a:avLst/>
          </a:prstGeom>
          <a:solidFill>
            <a:srgbClr val="080F20"/>
          </a:solidFill>
          <a:ln w="12700">
            <a:solidFill>
              <a:srgbClr val="2A3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960120"/>
            <a:ext cx="4114800" cy="292608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438912" y="960120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A235"/>
                </a:solidFill>
                <a:latin typeface="Calibri"/>
              </a:rPr>
              <a:t>Total Revenue (KPI card)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57200" y="128016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DCFE"/>
                </a:solidFill>
                <a:latin typeface="Consolas"/>
              </a:rPr>
              <a:t>CALCULATE(
  SUMX('public orders',
    'public orders'[quantity]
    * RELATED('public products'[unit_price])
  ), ALL('public orders')
)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196596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8CCEA"/>
                </a:solidFill>
                <a:latin typeface="Calibri"/>
              </a:rPr>
              <a:t>Removes ALL filter context → always shows $158.37M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960120"/>
            <a:ext cx="4114800" cy="1234440"/>
          </a:xfrm>
          <a:prstGeom prst="rect">
            <a:avLst/>
          </a:prstGeom>
          <a:solidFill>
            <a:srgbClr val="080F20"/>
          </a:solidFill>
          <a:ln w="12700">
            <a:solidFill>
              <a:srgbClr val="2A3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54880" y="960120"/>
            <a:ext cx="4114800" cy="292608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828032" y="960120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A235"/>
                </a:solidFill>
                <a:latin typeface="Calibri"/>
              </a:rPr>
              <a:t>Total Orders (KPI card)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46320" y="128016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DCFE"/>
                </a:solidFill>
                <a:latin typeface="Consolas"/>
              </a:rPr>
              <a:t>CALCULATE(
  DISTINCTCOUNT('public orders'[order_id]),
  ALL('public orders')
)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46320" y="196596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8CCEA"/>
                </a:solidFill>
                <a:latin typeface="Calibri"/>
              </a:rPr>
              <a:t>All-time unique orders regardless of slicer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286000"/>
            <a:ext cx="4114800" cy="1234440"/>
          </a:xfrm>
          <a:prstGeom prst="rect">
            <a:avLst/>
          </a:prstGeom>
          <a:solidFill>
            <a:srgbClr val="080F20"/>
          </a:solidFill>
          <a:ln w="12700">
            <a:solidFill>
              <a:srgbClr val="2A3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2286000"/>
            <a:ext cx="4114800" cy="292608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438912" y="2286000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A235"/>
                </a:solidFill>
                <a:latin typeface="Calibri"/>
              </a:rPr>
              <a:t>Total Customer (KPI card)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260604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DCFE"/>
                </a:solidFill>
                <a:latin typeface="Consolas"/>
              </a:rPr>
              <a:t>CALCULATE(
  DISTINCTCOUNT('public orders'[user_id]),
  ALL('public orders')
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" y="329184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8CCEA"/>
                </a:solidFill>
                <a:latin typeface="Calibri"/>
              </a:rPr>
              <a:t>All-time unique customers regardless of slicer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2286000"/>
            <a:ext cx="4114800" cy="1234440"/>
          </a:xfrm>
          <a:prstGeom prst="rect">
            <a:avLst/>
          </a:prstGeom>
          <a:solidFill>
            <a:srgbClr val="080F20"/>
          </a:solidFill>
          <a:ln w="12700">
            <a:solidFill>
              <a:srgbClr val="2A3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754880" y="2286000"/>
            <a:ext cx="4114800" cy="292608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828032" y="2286000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A235"/>
                </a:solidFill>
                <a:latin typeface="Calibri"/>
              </a:rPr>
              <a:t>Order Count (chart measure)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846320" y="260604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DCFE"/>
                </a:solidFill>
                <a:latin typeface="Consolas"/>
              </a:rPr>
              <a:t>COUNTROWS('public orders')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846320" y="329184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8CCEA"/>
                </a:solidFill>
                <a:latin typeface="Calibri"/>
              </a:rPr>
              <a:t>Responds to hour/day axis filters — used in Best Time of Day chart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5760" y="3611880"/>
            <a:ext cx="4114800" cy="1234440"/>
          </a:xfrm>
          <a:prstGeom prst="rect">
            <a:avLst/>
          </a:prstGeom>
          <a:solidFill>
            <a:srgbClr val="080F20"/>
          </a:solidFill>
          <a:ln w="12700">
            <a:solidFill>
              <a:srgbClr val="2A3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7" name="Rectangle 26"/>
          <p:cNvSpPr/>
          <p:nvPr/>
        </p:nvSpPr>
        <p:spPr>
          <a:xfrm>
            <a:off x="365760" y="3611880"/>
            <a:ext cx="4114800" cy="292608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8" name="TextBox 27"/>
          <p:cNvSpPr txBox="1"/>
          <p:nvPr/>
        </p:nvSpPr>
        <p:spPr>
          <a:xfrm>
            <a:off x="438912" y="3611880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A235"/>
                </a:solidFill>
                <a:latin typeface="Calibri"/>
              </a:rPr>
              <a:t>Revenue Trend (chart measure)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457200" y="393192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DCFE"/>
                </a:solidFill>
                <a:latin typeface="Consolas"/>
              </a:rPr>
              <a:t>SUMX(
  'public orders',
  'public orders'[quantity]
  * RELATED('public products'[unit_price])
)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57200" y="461772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8CCEA"/>
                </a:solidFill>
                <a:latin typeface="Calibri"/>
              </a:rPr>
              <a:t>Responds to Year axis — used in Sales Trend chart</a:t>
            </a:r>
          </a:p>
        </p:txBody>
      </p:sp>
      <p:sp>
        <p:nvSpPr>
          <p:cNvPr id="31" name="Rectangle 30"/>
          <p:cNvSpPr/>
          <p:nvPr/>
        </p:nvSpPr>
        <p:spPr>
          <a:xfrm>
            <a:off x="4754880" y="3611880"/>
            <a:ext cx="4114800" cy="1234440"/>
          </a:xfrm>
          <a:prstGeom prst="rect">
            <a:avLst/>
          </a:prstGeom>
          <a:solidFill>
            <a:srgbClr val="080F20"/>
          </a:solidFill>
          <a:ln w="12700">
            <a:solidFill>
              <a:srgbClr val="2A3F6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2" name="Rectangle 31"/>
          <p:cNvSpPr/>
          <p:nvPr/>
        </p:nvSpPr>
        <p:spPr>
          <a:xfrm>
            <a:off x="4754880" y="3611880"/>
            <a:ext cx="4114800" cy="292608"/>
          </a:xfrm>
          <a:prstGeom prst="rect">
            <a:avLst/>
          </a:prstGeom>
          <a:solidFill>
            <a:srgbClr val="1F3A6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3" name="TextBox 32"/>
          <p:cNvSpPr txBox="1"/>
          <p:nvPr/>
        </p:nvSpPr>
        <p:spPr>
          <a:xfrm>
            <a:off x="4828032" y="3611880"/>
            <a:ext cx="3977639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4A235"/>
                </a:solidFill>
                <a:latin typeface="Calibri"/>
              </a:rPr>
              <a:t>Avg Order Value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4846320" y="3931920"/>
            <a:ext cx="393192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" b="0" i="0">
                <a:solidFill>
                  <a:srgbClr val="9CDCFE"/>
                </a:solidFill>
                <a:latin typeface="Consolas"/>
              </a:rPr>
              <a:t>DIVIDE([Total Revenue], [Total Orders])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846320" y="4617720"/>
            <a:ext cx="3931920" cy="20116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50" b="0" i="1">
                <a:solidFill>
                  <a:srgbClr val="B8CCEA"/>
                </a:solidFill>
                <a:latin typeface="Calibri"/>
              </a:rPr>
              <a:t>Derived KPI — $151.03 per order</a:t>
            </a:r>
          </a:p>
        </p:txBody>
      </p:sp>
      <p:pic>
        <p:nvPicPr>
          <p:cNvPr id="36" name="Picture 35" descr="instacar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2864" y="270033"/>
            <a:ext cx="155448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A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328738" y="164592"/>
            <a:ext cx="7358062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FFFFFF"/>
                </a:solidFill>
                <a:latin typeface="Calibri"/>
              </a:rPr>
              <a:t>Recommendations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731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1">
                <a:solidFill>
                  <a:srgbClr val="B8CCEA"/>
                </a:solidFill>
                <a:latin typeface="Calibri"/>
              </a:rPr>
              <a:t>Strategic actions derived from data analysis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4A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365760" y="1005840"/>
            <a:ext cx="4114800" cy="1737360"/>
          </a:xfrm>
          <a:prstGeom prst="rect">
            <a:avLst/>
          </a:prstGeom>
          <a:solidFill>
            <a:srgbClr val="1A3060"/>
          </a:solidFill>
          <a:ln w="254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7" name="Rectangle 6"/>
          <p:cNvSpPr/>
          <p:nvPr/>
        </p:nvSpPr>
        <p:spPr>
          <a:xfrm>
            <a:off x="365760" y="1005840"/>
            <a:ext cx="658368" cy="1737360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TextBox 7"/>
          <p:cNvSpPr txBox="1"/>
          <p:nvPr/>
        </p:nvSpPr>
        <p:spPr>
          <a:xfrm>
            <a:off x="365760" y="1554480"/>
            <a:ext cx="658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01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7280" y="10972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1ABC9C"/>
                </a:solidFill>
                <a:latin typeface="Calibri"/>
              </a:rPr>
              <a:t>Aisle Profitability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7280" y="150876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CCEA"/>
                </a:solidFill>
                <a:latin typeface="Calibri"/>
              </a:rPr>
              <a:t>Negotiate better supplier pricing for top-volume, low-margin aisles (vitamins, trash bags, water/seltzer). Remove or reprice items in aisles generating &lt;0.3% gross margin.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754880" y="1005840"/>
            <a:ext cx="4114800" cy="1737360"/>
          </a:xfrm>
          <a:prstGeom prst="rect">
            <a:avLst/>
          </a:prstGeom>
          <a:solidFill>
            <a:srgbClr val="1A3060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4754880" y="1005840"/>
            <a:ext cx="658368" cy="1737360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4754880" y="1554480"/>
            <a:ext cx="658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0" y="109728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98DB"/>
                </a:solidFill>
                <a:latin typeface="Calibri"/>
              </a:rPr>
              <a:t>Product Portfolio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0" y="150876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CCEA"/>
                </a:solidFill>
                <a:latin typeface="Calibri"/>
              </a:rPr>
              <a:t>Promote top fresh-produce items (Banana, Strawberries) through marketing campaigns. Discontinue or bundle worst performers. Focus restocking on top-20 products by reorder rate.</a:t>
            </a:r>
          </a:p>
        </p:txBody>
      </p:sp>
      <p:sp>
        <p:nvSpPr>
          <p:cNvPr id="16" name="Rectangle 15"/>
          <p:cNvSpPr/>
          <p:nvPr/>
        </p:nvSpPr>
        <p:spPr>
          <a:xfrm>
            <a:off x="365760" y="2926080"/>
            <a:ext cx="4114800" cy="1737360"/>
          </a:xfrm>
          <a:prstGeom prst="rect">
            <a:avLst/>
          </a:prstGeom>
          <a:solidFill>
            <a:srgbClr val="1A3060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Rectangle 16"/>
          <p:cNvSpPr/>
          <p:nvPr/>
        </p:nvSpPr>
        <p:spPr>
          <a:xfrm>
            <a:off x="365760" y="2926080"/>
            <a:ext cx="658368" cy="1737360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8" name="TextBox 17"/>
          <p:cNvSpPr txBox="1"/>
          <p:nvPr/>
        </p:nvSpPr>
        <p:spPr>
          <a:xfrm>
            <a:off x="365760" y="3474720"/>
            <a:ext cx="658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03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97280" y="30175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39C12"/>
                </a:solidFill>
                <a:latin typeface="Calibri"/>
              </a:rPr>
              <a:t>Staff Scheduling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97280" y="34290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CCEA"/>
                </a:solidFill>
                <a:latin typeface="Calibri"/>
              </a:rPr>
              <a:t>Maximise staffing 10 AM–2 PM every day; double-staff on Saturdays. Cut late-night shifts (12 AM–5 AM). Estimated 15–20% labour cost saving from optimised scheduling.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754880" y="2926080"/>
            <a:ext cx="4114800" cy="1737360"/>
          </a:xfrm>
          <a:prstGeom prst="rect">
            <a:avLst/>
          </a:prstGeom>
          <a:solidFill>
            <a:srgbClr val="1A3060"/>
          </a:solidFill>
          <a:ln w="25400">
            <a:solidFill>
              <a:srgbClr val="9B59B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2" name="Rectangle 21"/>
          <p:cNvSpPr/>
          <p:nvPr/>
        </p:nvSpPr>
        <p:spPr>
          <a:xfrm>
            <a:off x="4754880" y="2926080"/>
            <a:ext cx="658368" cy="1737360"/>
          </a:xfrm>
          <a:prstGeom prst="rect">
            <a:avLst/>
          </a:prstGeom>
          <a:solidFill>
            <a:srgbClr val="9B59B6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23" name="TextBox 22"/>
          <p:cNvSpPr txBox="1"/>
          <p:nvPr/>
        </p:nvSpPr>
        <p:spPr>
          <a:xfrm>
            <a:off x="4754880" y="3474720"/>
            <a:ext cx="658368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400" b="1" i="0">
                <a:solidFill>
                  <a:srgbClr val="FFFFFF"/>
                </a:solidFill>
                <a:latin typeface="Calibri"/>
              </a:rPr>
              <a:t>04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0" y="3017520"/>
            <a:ext cx="329184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9B59B6"/>
                </a:solidFill>
                <a:latin typeface="Calibri"/>
              </a:rPr>
              <a:t>Inventory Planning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0" y="3429000"/>
            <a:ext cx="3291840" cy="11887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CCEA"/>
                </a:solidFill>
                <a:latin typeface="Calibri"/>
              </a:rPr>
              <a:t>Pre-stock ahead of Q2–Q3 demand spikes (peak: 2021 pattern). Build 10–15% safety stock for top-10 aisles. Monitor 2022-style dips and trigger contingency orders.</a:t>
            </a:r>
          </a:p>
        </p:txBody>
      </p:sp>
      <p:pic>
        <p:nvPicPr>
          <p:cNvPr id="26" name="Picture 25" descr="instacar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84309" y="164592"/>
            <a:ext cx="1554480" cy="38404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D1B3E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0" y="0"/>
            <a:ext cx="9144000" cy="82296"/>
          </a:xfrm>
          <a:prstGeom prst="rect">
            <a:avLst/>
          </a:prstGeom>
          <a:solidFill>
            <a:srgbClr val="F4A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3" name="TextBox 2"/>
          <p:cNvSpPr txBox="1"/>
          <p:nvPr/>
        </p:nvSpPr>
        <p:spPr>
          <a:xfrm>
            <a:off x="1278730" y="164592"/>
            <a:ext cx="7408069" cy="553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3000" b="1" i="0" dirty="0">
                <a:solidFill>
                  <a:srgbClr val="FFFFFF"/>
                </a:solidFill>
                <a:latin typeface="Calibri"/>
              </a:rPr>
              <a:t>Conclusion &amp; Next Steps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5065776"/>
            <a:ext cx="9144000" cy="77724"/>
          </a:xfrm>
          <a:prstGeom prst="rect">
            <a:avLst/>
          </a:prstGeom>
          <a:solidFill>
            <a:srgbClr val="F4A23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365760" y="1005840"/>
            <a:ext cx="8412480" cy="1188720"/>
          </a:xfrm>
          <a:prstGeom prst="rect">
            <a:avLst/>
          </a:prstGeom>
          <a:solidFill>
            <a:srgbClr val="1A306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6" name="TextBox 5"/>
          <p:cNvSpPr txBox="1"/>
          <p:nvPr/>
        </p:nvSpPr>
        <p:spPr>
          <a:xfrm>
            <a:off x="502920" y="1033271"/>
            <a:ext cx="8229600" cy="1143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B8CCEA"/>
                </a:solidFill>
                <a:latin typeface="Calibri"/>
              </a:rPr>
              <a:t>This capstone analysis of Instacart's PostgreSQL database reveals a high-volume grocery platform generating $158.37M in revenue across 1,048,575 orders from 63,100 customers. By combining Power BI's interactive dashboards with PostgreSQL's SQL analytics, the project delivers four evidence-based insights: aisle profitability mapping, product performance ranking, peak-hour identification, and multi-year revenue trend tracking — each translated into clear, actionable business recommendations.</a:t>
            </a:r>
          </a:p>
        </p:txBody>
      </p:sp>
      <p:sp>
        <p:nvSpPr>
          <p:cNvPr id="7" name="Rectangle 6"/>
          <p:cNvSpPr/>
          <p:nvPr/>
        </p:nvSpPr>
        <p:spPr>
          <a:xfrm>
            <a:off x="365760" y="2331720"/>
            <a:ext cx="2651760" cy="2103120"/>
          </a:xfrm>
          <a:prstGeom prst="rect">
            <a:avLst/>
          </a:prstGeom>
          <a:solidFill>
            <a:srgbClr val="1A3060"/>
          </a:solidFill>
          <a:ln w="25400">
            <a:solidFill>
              <a:srgbClr val="1ABC9C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8" name="Rectangle 7"/>
          <p:cNvSpPr/>
          <p:nvPr/>
        </p:nvSpPr>
        <p:spPr>
          <a:xfrm>
            <a:off x="365760" y="2331720"/>
            <a:ext cx="2651760" cy="384048"/>
          </a:xfrm>
          <a:prstGeom prst="rect">
            <a:avLst/>
          </a:prstGeom>
          <a:solidFill>
            <a:srgbClr val="1ABC9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9" name="TextBox 8"/>
          <p:cNvSpPr txBox="1"/>
          <p:nvPr/>
        </p:nvSpPr>
        <p:spPr>
          <a:xfrm>
            <a:off x="365760" y="233172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Data-Driven Decisions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7200" y="278892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CCEA"/>
                </a:solidFill>
                <a:latin typeface="Calibri"/>
              </a:rPr>
              <a:t>Power BI + PostgreSQL pipeline enables real-time KPI monitoring without manual reporting.</a:t>
            </a:r>
          </a:p>
        </p:txBody>
      </p:sp>
      <p:sp>
        <p:nvSpPr>
          <p:cNvPr id="11" name="Rectangle 10"/>
          <p:cNvSpPr/>
          <p:nvPr/>
        </p:nvSpPr>
        <p:spPr>
          <a:xfrm>
            <a:off x="3200400" y="2331720"/>
            <a:ext cx="2651760" cy="2103120"/>
          </a:xfrm>
          <a:prstGeom prst="rect">
            <a:avLst/>
          </a:prstGeom>
          <a:solidFill>
            <a:srgbClr val="1A3060"/>
          </a:solidFill>
          <a:ln w="25400">
            <a:solidFill>
              <a:srgbClr val="3498DB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2" name="Rectangle 11"/>
          <p:cNvSpPr/>
          <p:nvPr/>
        </p:nvSpPr>
        <p:spPr>
          <a:xfrm>
            <a:off x="3200400" y="2331720"/>
            <a:ext cx="2651760" cy="384048"/>
          </a:xfrm>
          <a:prstGeom prst="rect">
            <a:avLst/>
          </a:prstGeom>
          <a:solidFill>
            <a:srgbClr val="3498DB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3" name="TextBox 12"/>
          <p:cNvSpPr txBox="1"/>
          <p:nvPr/>
        </p:nvSpPr>
        <p:spPr>
          <a:xfrm>
            <a:off x="3200400" y="233172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Operational Efficiency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291840" y="278892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CCEA"/>
                </a:solidFill>
                <a:latin typeface="Calibri"/>
              </a:rPr>
              <a:t>Peak-hour insights can reduce labour costs ~15-20% through optimised shift scheduling.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35040" y="2331720"/>
            <a:ext cx="2651760" cy="2103120"/>
          </a:xfrm>
          <a:prstGeom prst="rect">
            <a:avLst/>
          </a:prstGeom>
          <a:solidFill>
            <a:srgbClr val="1A3060"/>
          </a:solidFill>
          <a:ln w="25400">
            <a:solidFill>
              <a:srgbClr val="F39C12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6" name="Rectangle 15"/>
          <p:cNvSpPr/>
          <p:nvPr/>
        </p:nvSpPr>
        <p:spPr>
          <a:xfrm>
            <a:off x="6035040" y="2331720"/>
            <a:ext cx="2651760" cy="384048"/>
          </a:xfrm>
          <a:prstGeom prst="rect">
            <a:avLst/>
          </a:prstGeom>
          <a:solidFill>
            <a:srgbClr val="F39C1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/>
          </a:p>
        </p:txBody>
      </p:sp>
      <p:sp>
        <p:nvSpPr>
          <p:cNvPr id="17" name="TextBox 16"/>
          <p:cNvSpPr txBox="1"/>
          <p:nvPr/>
        </p:nvSpPr>
        <p:spPr>
          <a:xfrm>
            <a:off x="6035040" y="2331720"/>
            <a:ext cx="26517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1" i="0">
                <a:solidFill>
                  <a:srgbClr val="FFFFFF"/>
                </a:solidFill>
                <a:latin typeface="Calibri"/>
              </a:rPr>
              <a:t>Revenue Optimisation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126480" y="2788920"/>
            <a:ext cx="2468880" cy="1554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50" b="0" i="0">
                <a:solidFill>
                  <a:srgbClr val="B8CCEA"/>
                </a:solidFill>
                <a:latin typeface="Calibri"/>
              </a:rPr>
              <a:t>Targeting top aisles and products guides marketing spend toward highest-ROI categories.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65760" y="4480560"/>
            <a:ext cx="841248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050" b="0" i="1">
                <a:solidFill>
                  <a:srgbClr val="B8CCEA"/>
                </a:solidFill>
                <a:latin typeface="Calibri"/>
              </a:rPr>
              <a:t>Next Steps: Integrate real-time PostgreSQL refresh  ·  Add drill-through on aisle/product pages  ·  Extend to customer cohort analysis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365760" y="4681728"/>
            <a:ext cx="84124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F4A235"/>
                </a:solidFill>
                <a:latin typeface="Calibri"/>
              </a:rPr>
              <a:t>Thank You  ·  Questions Welcome</a:t>
            </a:r>
          </a:p>
        </p:txBody>
      </p:sp>
      <p:pic>
        <p:nvPicPr>
          <p:cNvPr id="21" name="Picture 20" descr="instacart_logo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65760" y="164592"/>
            <a:ext cx="1554480" cy="384048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157</TotalTime>
  <Words>1690</Words>
  <Application>Microsoft Office PowerPoint</Application>
  <PresentationFormat>On-screen Show (16:9)</PresentationFormat>
  <Paragraphs>158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7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Manager/>
  <Company/>
  <LinksUpToDate>false</LinksUpToDate>
  <SharedDoc>false</SharedDoc>
  <HyperlinkBase/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Naomi chomba</dc:creator>
  <cp:keywords/>
  <dc:description>generated using python-pptx</dc:description>
  <cp:lastModifiedBy>Naomi chomba</cp:lastModifiedBy>
  <cp:revision>1</cp:revision>
  <dcterms:created xsi:type="dcterms:W3CDTF">2013-01-27T09:14:16Z</dcterms:created>
  <dcterms:modified xsi:type="dcterms:W3CDTF">2026-06-23T10:56:12Z</dcterms:modified>
  <cp:category/>
</cp:coreProperties>
</file>