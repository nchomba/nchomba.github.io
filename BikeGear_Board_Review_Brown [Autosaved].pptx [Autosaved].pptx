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65" r:id="rId15"/>
    <p:sldId id="266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022"/>
    <a:srgbClr val="A47551"/>
    <a:srgbClr val="251D15"/>
    <a:srgbClr val="3D2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26-43CD-B2CB-F97B5CB5023C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26-43CD-B2CB-F97B5CB5023C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26-43CD-B2CB-F97B5CB5023C}"/>
              </c:ext>
            </c:extLst>
          </c:dPt>
          <c:dPt>
            <c:idx val="3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26-43CD-B2CB-F97B5CB5023C}"/>
              </c:ext>
            </c:extLst>
          </c:dPt>
          <c:dPt>
            <c:idx val="4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26-43CD-B2CB-F97B5CB5023C}"/>
              </c:ext>
            </c:extLst>
          </c:dPt>
          <c:dPt>
            <c:idx val="5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26-43CD-B2CB-F97B5CB5023C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30574297</c:v>
                </c:pt>
                <c:pt idx="1">
                  <c:v>25297064</c:v>
                </c:pt>
                <c:pt idx="2">
                  <c:v>11009158</c:v>
                </c:pt>
                <c:pt idx="3">
                  <c:v>9859672</c:v>
                </c:pt>
                <c:pt idx="4">
                  <c:v>9768215</c:v>
                </c:pt>
                <c:pt idx="5">
                  <c:v>7979814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26-43CD-B2CB-F97B5CB502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1F1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Quantity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F6-4ED9-8D33-1ED683FDA029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F6-4ED9-8D33-1ED683FDA029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F6-4ED9-8D33-1ED683FDA029}"/>
              </c:ext>
            </c:extLst>
          </c:dPt>
          <c:dPt>
            <c:idx val="3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F6-4ED9-8D33-1ED683FDA029}"/>
              </c:ext>
            </c:extLst>
          </c:dPt>
          <c:dPt>
            <c:idx val="4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F6-4ED9-8D33-1ED683FDA029}"/>
              </c:ext>
            </c:extLst>
          </c:dPt>
          <c:dPt>
            <c:idx val="5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2F6-4ED9-8D33-1ED683FDA0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Canada</c:v>
                </c:pt>
                <c:pt idx="3">
                  <c:v>United Kingdom</c:v>
                </c:pt>
                <c:pt idx="4">
                  <c:v>France</c:v>
                </c:pt>
                <c:pt idx="5">
                  <c:v>Germany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473316</c:v>
                </c:pt>
                <c:pt idx="1">
                  <c:v>261110</c:v>
                </c:pt>
                <c:pt idx="2">
                  <c:v>189751</c:v>
                </c:pt>
                <c:pt idx="3">
                  <c:v>155731</c:v>
                </c:pt>
                <c:pt idx="4">
                  <c:v>127703</c:v>
                </c:pt>
                <c:pt idx="5">
                  <c:v>124466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2F6-4ED9-8D33-1ED683FDA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1F1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55-4258-943B-24CF0A698DC2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55-4258-943B-24CF0A698DC2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55-4258-943B-24CF0A698DC2}"/>
              </c:ext>
            </c:extLst>
          </c:dPt>
          <c:dPt>
            <c:idx val="3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55-4258-943B-24CF0A698DC2}"/>
              </c:ext>
            </c:extLst>
          </c:dPt>
          <c:dPt>
            <c:idx val="4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55-4258-943B-24CF0A698DC2}"/>
              </c:ext>
            </c:extLst>
          </c:dPt>
          <c:dPt>
            <c:idx val="5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55-4258-943B-24CF0A698DC2}"/>
              </c:ext>
            </c:extLst>
          </c:dPt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13809593</c:v>
                </c:pt>
                <c:pt idx="1">
                  <c:v>10845468</c:v>
                </c:pt>
                <c:pt idx="2">
                  <c:v>4821931</c:v>
                </c:pt>
                <c:pt idx="3">
                  <c:v>4307276</c:v>
                </c:pt>
                <c:pt idx="4">
                  <c:v>4260514</c:v>
                </c:pt>
                <c:pt idx="5">
                  <c:v>3778723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55-4258-943B-24CF0A698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1F1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title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8B-4FBF-BBF0-8F0742D3F06F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8B-4FBF-BBF0-8F0742D3F06F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8B-4FBF-BBF0-8F0742D3F06F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Young adult</c:v>
                </c:pt>
                <c:pt idx="2">
                  <c:v>Youth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43676784</c:v>
                </c:pt>
                <c:pt idx="1">
                  <c:v>34855142</c:v>
                </c:pt>
                <c:pt idx="2">
                  <c:v>15956294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8B-4FBF-BBF0-8F0742D3F0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Quantity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01-49DD-B249-FC3B25061CE4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01-49DD-B249-FC3B25061CE4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01-49DD-B249-FC3B25061C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Young adult</c:v>
                </c:pt>
                <c:pt idx="2">
                  <c:v>Youth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629059</c:v>
                </c:pt>
                <c:pt idx="1">
                  <c:v>455616</c:v>
                </c:pt>
                <c:pt idx="2">
                  <c:v>247402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01-49DD-B249-FC3B25061C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5D7B43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49-4A36-AA6A-7CAFEF376CAB}"/>
              </c:ext>
            </c:extLst>
          </c:dPt>
          <c:dPt>
            <c:idx val="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49-4A36-AA6A-7CAFEF376CAB}"/>
              </c:ext>
            </c:extLst>
          </c:dPt>
          <c:dPt>
            <c:idx val="2"/>
            <c:invertIfNegative val="0"/>
            <c:bubble3D val="0"/>
            <c:spPr>
              <a:solidFill>
                <a:srgbClr val="9C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49-4A36-AA6A-7CAFEF376CAB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Young adult</c:v>
                </c:pt>
                <c:pt idx="2">
                  <c:v>Youth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19491468</c:v>
                </c:pt>
                <c:pt idx="1">
                  <c:v>15276735</c:v>
                </c:pt>
                <c:pt idx="2">
                  <c:v>7055302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49-4A36-AA6A-7CAFEF376C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D7B43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California</c:v>
                </c:pt>
                <c:pt idx="1">
                  <c:v>England</c:v>
                </c:pt>
                <c:pt idx="2">
                  <c:v>New South Wales</c:v>
                </c:pt>
                <c:pt idx="3">
                  <c:v>Washington</c:v>
                </c:pt>
                <c:pt idx="4">
                  <c:v>British Columbia</c:v>
                </c:pt>
                <c:pt idx="5">
                  <c:v>Victoria</c:v>
                </c:pt>
                <c:pt idx="6">
                  <c:v>Queensland</c:v>
                </c:pt>
                <c:pt idx="7">
                  <c:v>Oregon</c:v>
                </c:pt>
                <c:pt idx="8">
                  <c:v>Saarland</c:v>
                </c:pt>
                <c:pt idx="9">
                  <c:v>Hessen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17886678</c:v>
                </c:pt>
                <c:pt idx="1">
                  <c:v>11009158</c:v>
                </c:pt>
                <c:pt idx="2">
                  <c:v>10488515</c:v>
                </c:pt>
                <c:pt idx="3">
                  <c:v>8579242</c:v>
                </c:pt>
                <c:pt idx="4">
                  <c:v>7922480</c:v>
                </c:pt>
                <c:pt idx="5">
                  <c:v>6375362</c:v>
                </c:pt>
                <c:pt idx="6">
                  <c:v>6014476</c:v>
                </c:pt>
                <c:pt idx="7">
                  <c:v>3981002</c:v>
                </c:pt>
                <c:pt idx="8">
                  <c:v>2435871</c:v>
                </c:pt>
                <c:pt idx="9">
                  <c:v>2213461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74-4FF4-8246-0B30DB633B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C3B2E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Alabama</c:v>
                </c:pt>
                <c:pt idx="1">
                  <c:v>North Carolina</c:v>
                </c:pt>
                <c:pt idx="2">
                  <c:v>Ontario</c:v>
                </c:pt>
                <c:pt idx="3">
                  <c:v>Virginia</c:v>
                </c:pt>
                <c:pt idx="4">
                  <c:v>South Carolina</c:v>
                </c:pt>
                <c:pt idx="5">
                  <c:v>Minnesota</c:v>
                </c:pt>
                <c:pt idx="6">
                  <c:v>Mississippi</c:v>
                </c:pt>
                <c:pt idx="7">
                  <c:v>Missouri</c:v>
                </c:pt>
                <c:pt idx="8">
                  <c:v>Montana</c:v>
                </c:pt>
                <c:pt idx="9">
                  <c:v>Kentucky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210</c:v>
                </c:pt>
                <c:pt idx="1">
                  <c:v>465</c:v>
                </c:pt>
                <c:pt idx="2">
                  <c:v>1215</c:v>
                </c:pt>
                <c:pt idx="3">
                  <c:v>1485</c:v>
                </c:pt>
                <c:pt idx="4">
                  <c:v>1514</c:v>
                </c:pt>
                <c:pt idx="5">
                  <c:v>1666</c:v>
                </c:pt>
                <c:pt idx="6">
                  <c:v>1914</c:v>
                </c:pt>
                <c:pt idx="7">
                  <c:v>1976</c:v>
                </c:pt>
                <c:pt idx="8">
                  <c:v>2278</c:v>
                </c:pt>
                <c:pt idx="9">
                  <c:v>4172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B4-4C0D-996F-E73CC84D88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5D7B4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Water Bottle - 30 oz.</c:v>
                </c:pt>
                <c:pt idx="1">
                  <c:v>Patch Kit/8 Patches</c:v>
                </c:pt>
                <c:pt idx="2">
                  <c:v>Mountain Tire Tube</c:v>
                </c:pt>
                <c:pt idx="3">
                  <c:v>AWC Logo Cap</c:v>
                </c:pt>
                <c:pt idx="4">
                  <c:v>Sport-100 Helmet, Red</c:v>
                </c:pt>
                <c:pt idx="5">
                  <c:v>Fender Set - Mountain</c:v>
                </c:pt>
                <c:pt idx="6">
                  <c:v>Sport-100 Helmet, Black</c:v>
                </c:pt>
                <c:pt idx="7">
                  <c:v>Road Tire Tube</c:v>
                </c:pt>
                <c:pt idx="8">
                  <c:v>Sport-100 Helmet, Blue</c:v>
                </c:pt>
                <c:pt idx="9">
                  <c:v>Touring Tire Tube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161960</c:v>
                </c:pt>
                <c:pt idx="1">
                  <c:v>154732</c:v>
                </c:pt>
                <c:pt idx="2">
                  <c:v>100915</c:v>
                </c:pt>
                <c:pt idx="3">
                  <c:v>67316</c:v>
                </c:pt>
                <c:pt idx="4">
                  <c:v>63652</c:v>
                </c:pt>
                <c:pt idx="5">
                  <c:v>62118</c:v>
                </c:pt>
                <c:pt idx="6">
                  <c:v>62072</c:v>
                </c:pt>
                <c:pt idx="7">
                  <c:v>61206</c:v>
                </c:pt>
                <c:pt idx="8">
                  <c:v>55855</c:v>
                </c:pt>
                <c:pt idx="9">
                  <c:v>55605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83-46DD-BDF7-E324552196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9C3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Mountain-500 Black, 52</c:v>
                </c:pt>
                <c:pt idx="1">
                  <c:v>Road-650 Red, 52</c:v>
                </c:pt>
                <c:pt idx="2">
                  <c:v>Mountain-500 Silver, 48</c:v>
                </c:pt>
                <c:pt idx="3">
                  <c:v>Touring-3000 Blue, 50</c:v>
                </c:pt>
                <c:pt idx="4">
                  <c:v>Mountain-100 Black, 42</c:v>
                </c:pt>
                <c:pt idx="5">
                  <c:v>Mountain-100 Silver, 48</c:v>
                </c:pt>
                <c:pt idx="6">
                  <c:v>Mountain-100 Silver, 42</c:v>
                </c:pt>
                <c:pt idx="7">
                  <c:v>Touring-3000 Yellow, 62</c:v>
                </c:pt>
                <c:pt idx="8">
                  <c:v>Mountain-100 Silver, 44</c:v>
                </c:pt>
                <c:pt idx="9">
                  <c:v>Mountain-100 Black, 44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52</c:v>
                </c:pt>
                <c:pt idx="2">
                  <c:v>52</c:v>
                </c:pt>
                <c:pt idx="3">
                  <c:v>70</c:v>
                </c:pt>
                <c:pt idx="4">
                  <c:v>72</c:v>
                </c:pt>
                <c:pt idx="5">
                  <c:v>75</c:v>
                </c:pt>
                <c:pt idx="6">
                  <c:v>77</c:v>
                </c:pt>
                <c:pt idx="7">
                  <c:v>83</c:v>
                </c:pt>
                <c:pt idx="8">
                  <c:v>83</c:v>
                </c:pt>
                <c:pt idx="9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3-4D40-AFB7-B3054B3BB6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A4755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Tires and Tubes</c:v>
                </c:pt>
                <c:pt idx="1">
                  <c:v>Bottles and Cages</c:v>
                </c:pt>
                <c:pt idx="2">
                  <c:v>Helmets</c:v>
                </c:pt>
                <c:pt idx="3">
                  <c:v>Jerseys</c:v>
                </c:pt>
                <c:pt idx="4">
                  <c:v>Caps</c:v>
                </c:pt>
                <c:pt idx="5">
                  <c:v>Fenders</c:v>
                </c:pt>
                <c:pt idx="6">
                  <c:v>Gloves</c:v>
                </c:pt>
                <c:pt idx="7">
                  <c:v>Cleaners</c:v>
                </c:pt>
                <c:pt idx="8">
                  <c:v>Shorts</c:v>
                </c:pt>
                <c:pt idx="9">
                  <c:v>Hydration Packs</c:v>
                </c:pt>
                <c:pt idx="10">
                  <c:v>Road Bikes</c:v>
                </c:pt>
                <c:pt idx="11">
                  <c:v>Socks</c:v>
                </c:pt>
                <c:pt idx="12">
                  <c:v>Vests</c:v>
                </c:pt>
                <c:pt idx="13">
                  <c:v>Mountain Bikes</c:v>
                </c:pt>
                <c:pt idx="14">
                  <c:v>Bike Racks</c:v>
                </c:pt>
                <c:pt idx="15">
                  <c:v>Touring Bikes</c:v>
                </c:pt>
                <c:pt idx="16">
                  <c:v>Bike Stands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504847</c:v>
                </c:pt>
                <c:pt idx="1">
                  <c:v>238443</c:v>
                </c:pt>
                <c:pt idx="2">
                  <c:v>181522</c:v>
                </c:pt>
                <c:pt idx="3">
                  <c:v>87842</c:v>
                </c:pt>
                <c:pt idx="4">
                  <c:v>67268</c:v>
                </c:pt>
                <c:pt idx="5">
                  <c:v>62138</c:v>
                </c:pt>
                <c:pt idx="6">
                  <c:v>39978</c:v>
                </c:pt>
                <c:pt idx="7">
                  <c:v>27574</c:v>
                </c:pt>
                <c:pt idx="8">
                  <c:v>27168</c:v>
                </c:pt>
                <c:pt idx="9">
                  <c:v>19914</c:v>
                </c:pt>
                <c:pt idx="10">
                  <c:v>19599</c:v>
                </c:pt>
                <c:pt idx="11">
                  <c:v>17678</c:v>
                </c:pt>
                <c:pt idx="12">
                  <c:v>14457</c:v>
                </c:pt>
                <c:pt idx="13">
                  <c:v>11895</c:v>
                </c:pt>
                <c:pt idx="14">
                  <c:v>4723</c:v>
                </c:pt>
                <c:pt idx="15">
                  <c:v>4628</c:v>
                </c:pt>
                <c:pt idx="16">
                  <c:v>2403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8E-497C-B2BA-414038EE11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CC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D4C4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Road Bikes</c:v>
                </c:pt>
                <c:pt idx="1">
                  <c:v>Mountain Bikes</c:v>
                </c:pt>
                <c:pt idx="2">
                  <c:v>Touring Bikes</c:v>
                </c:pt>
                <c:pt idx="3">
                  <c:v>Helmets</c:v>
                </c:pt>
                <c:pt idx="4">
                  <c:v>Tires and Tubes</c:v>
                </c:pt>
                <c:pt idx="5">
                  <c:v>Jerseys</c:v>
                </c:pt>
                <c:pt idx="6">
                  <c:v>Shorts</c:v>
                </c:pt>
                <c:pt idx="7">
                  <c:v>Bottles and Cages</c:v>
                </c:pt>
                <c:pt idx="8">
                  <c:v>Fenders</c:v>
                </c:pt>
                <c:pt idx="9">
                  <c:v>Hydration Packs</c:v>
                </c:pt>
                <c:pt idx="10">
                  <c:v>Vests</c:v>
                </c:pt>
                <c:pt idx="11">
                  <c:v>Gloves</c:v>
                </c:pt>
                <c:pt idx="12">
                  <c:v>Caps</c:v>
                </c:pt>
                <c:pt idx="13">
                  <c:v>Bike Racks</c:v>
                </c:pt>
                <c:pt idx="14">
                  <c:v>Bike Stands</c:v>
                </c:pt>
                <c:pt idx="15">
                  <c:v>Cleaners</c:v>
                </c:pt>
                <c:pt idx="16">
                  <c:v>Socks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37142562</c:v>
                </c:pt>
                <c:pt idx="1">
                  <c:v>23479788</c:v>
                </c:pt>
                <c:pt idx="2">
                  <c:v>8033951</c:v>
                </c:pt>
                <c:pt idx="3">
                  <c:v>6353270</c:v>
                </c:pt>
                <c:pt idx="4">
                  <c:v>5077934</c:v>
                </c:pt>
                <c:pt idx="5">
                  <c:v>4552880</c:v>
                </c:pt>
                <c:pt idx="6">
                  <c:v>1901760</c:v>
                </c:pt>
                <c:pt idx="7">
                  <c:v>1535068</c:v>
                </c:pt>
                <c:pt idx="8">
                  <c:v>1366238</c:v>
                </c:pt>
                <c:pt idx="9">
                  <c:v>1094130</c:v>
                </c:pt>
                <c:pt idx="10">
                  <c:v>1055168</c:v>
                </c:pt>
                <c:pt idx="11">
                  <c:v>959398</c:v>
                </c:pt>
                <c:pt idx="12">
                  <c:v>605396</c:v>
                </c:pt>
                <c:pt idx="13">
                  <c:v>566760</c:v>
                </c:pt>
                <c:pt idx="14">
                  <c:v>381609</c:v>
                </c:pt>
                <c:pt idx="15">
                  <c:v>220644</c:v>
                </c:pt>
                <c:pt idx="16">
                  <c:v>161664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A7-4CB9-917C-31BDF0571D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CC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9C3B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74-4E4E-A600-748F31D485D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474-4E4E-A600-748F31D485D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474-4E4E-A600-748F31D485D4}"/>
              </c:ext>
            </c:extLst>
          </c:dPt>
          <c:dPt>
            <c:idx val="3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474-4E4E-A600-748F31D485D4}"/>
              </c:ext>
            </c:extLst>
          </c:dPt>
          <c:dPt>
            <c:idx val="4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474-4E4E-A600-748F31D485D4}"/>
              </c:ext>
            </c:extLst>
          </c:dPt>
          <c:dPt>
            <c:idx val="5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474-4E4E-A600-748F31D485D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474-4E4E-A600-748F31D485D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474-4E4E-A600-748F31D485D4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474-4E4E-A600-748F31D485D4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474-4E4E-A600-748F31D485D4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1474-4E4E-A600-748F31D485D4}"/>
              </c:ext>
            </c:extLst>
          </c:dPt>
          <c:dPt>
            <c:idx val="11"/>
            <c:invertIfNegative val="0"/>
            <c:bubble3D val="0"/>
            <c:spPr>
              <a:solidFill>
                <a:srgbClr val="5D7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474-4E4E-A600-748F31D485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1F19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109220</c:v>
                </c:pt>
                <c:pt idx="1">
                  <c:v>103979</c:v>
                </c:pt>
                <c:pt idx="2">
                  <c:v>110027</c:v>
                </c:pt>
                <c:pt idx="3">
                  <c:v>117119</c:v>
                </c:pt>
                <c:pt idx="4">
                  <c:v>124468</c:v>
                </c:pt>
                <c:pt idx="5">
                  <c:v>127289</c:v>
                </c:pt>
                <c:pt idx="6">
                  <c:v>88917</c:v>
                </c:pt>
                <c:pt idx="7">
                  <c:v>101894</c:v>
                </c:pt>
                <c:pt idx="8">
                  <c:v>102193</c:v>
                </c:pt>
                <c:pt idx="9">
                  <c:v>107643</c:v>
                </c:pt>
                <c:pt idx="10">
                  <c:v>107355</c:v>
                </c:pt>
                <c:pt idx="11">
                  <c:v>131973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1474-4E4E-A600-748F31D485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(111,006)</c:v>
                </c:pt>
              </c:strCache>
            </c:strRef>
          </c:tx>
          <c:spPr>
            <a:ln w="25400" cap="flat">
              <a:solidFill>
                <a:srgbClr val="A47551"/>
              </a:solidFill>
              <a:prstDash val="dash"/>
              <a:round/>
            </a:ln>
            <a:effectLst/>
          </c:spPr>
          <c:marker>
            <c:symbol val="circle"/>
            <c:size val="6"/>
            <c:spPr>
              <a:solidFill>
                <a:srgbClr val="A47551"/>
              </a:solidFill>
              <a:ln w="9525" cap="flat">
                <a:solidFill>
                  <a:srgbClr val="A4755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111006.41666666667</c:v>
                </c:pt>
                <c:pt idx="1">
                  <c:v>111006.41666666667</c:v>
                </c:pt>
                <c:pt idx="2">
                  <c:v>111006.41666666667</c:v>
                </c:pt>
                <c:pt idx="3">
                  <c:v>111006.41666666667</c:v>
                </c:pt>
                <c:pt idx="4">
                  <c:v>111006.41666666667</c:v>
                </c:pt>
                <c:pt idx="5">
                  <c:v>111006.41666666667</c:v>
                </c:pt>
                <c:pt idx="6">
                  <c:v>111006.41666666667</c:v>
                </c:pt>
                <c:pt idx="7">
                  <c:v>111006.41666666667</c:v>
                </c:pt>
                <c:pt idx="8">
                  <c:v>111006.41666666667</c:v>
                </c:pt>
                <c:pt idx="9">
                  <c:v>111006.41666666667</c:v>
                </c:pt>
                <c:pt idx="10">
                  <c:v>111006.41666666667</c:v>
                </c:pt>
                <c:pt idx="11">
                  <c:v>111006.41666666667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9-1474-4E4E-A600-748F31D48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1F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CC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1F1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1E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93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4346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778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8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39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336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43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1456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0596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947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574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528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23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32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pxhere.com/fr/photo/2569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image" Target="../media/image3.png"/><Relationship Id="rId7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3D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3058356-6E00-F3CA-4D16-57AC3FF40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8928" y="0"/>
            <a:ext cx="3671048" cy="6777318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7CCC8"/>
          </a:solidFill>
          <a:ln w="12700">
            <a:solidFill>
              <a:srgbClr val="D7CCC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9135035" y="-1005840"/>
            <a:ext cx="4114800" cy="4114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8778240" y="1097280"/>
            <a:ext cx="2194560" cy="219456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1138170" y="4168588"/>
            <a:ext cx="1828800" cy="1828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07223" y="600635"/>
            <a:ext cx="6678705" cy="113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800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BIKEGEAR SOLUTIONS</a:t>
            </a:r>
            <a:endParaRPr lang="en-US" sz="4400" b="1" dirty="0"/>
          </a:p>
        </p:txBody>
      </p:sp>
      <p:sp>
        <p:nvSpPr>
          <p:cNvPr id="8" name="Text 3"/>
          <p:cNvSpPr/>
          <p:nvPr/>
        </p:nvSpPr>
        <p:spPr>
          <a:xfrm>
            <a:off x="4172594" y="1828800"/>
            <a:ext cx="6965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of Directors Performance Review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4446999" y="2971800"/>
            <a:ext cx="69144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is performing - and where it is not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800100" y="4572000"/>
            <a:ext cx="2468880" cy="1280160"/>
          </a:xfrm>
          <a:prstGeom prst="rect">
            <a:avLst/>
          </a:prstGeom>
          <a:solidFill>
            <a:srgbClr val="6D4C4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010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$94.5M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80010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497580" y="4572000"/>
            <a:ext cx="2468880" cy="1280160"/>
          </a:xfrm>
          <a:prstGeom prst="rect">
            <a:avLst/>
          </a:prstGeom>
          <a:solidFill>
            <a:srgbClr val="6D4C4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49758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1,332,077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349758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95060" y="4572000"/>
            <a:ext cx="2468880" cy="1280160"/>
          </a:xfrm>
          <a:prstGeom prst="rect">
            <a:avLst/>
          </a:prstGeom>
          <a:solidFill>
            <a:srgbClr val="6D4C4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9506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$41.8M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19506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92540" y="4572000"/>
            <a:ext cx="2468880" cy="1280160"/>
          </a:xfrm>
          <a:prstGeom prst="rect">
            <a:avLst/>
          </a:prstGeom>
          <a:solidFill>
            <a:srgbClr val="6D4C4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9254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44.3%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89254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32020" y="6217920"/>
            <a:ext cx="70655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FY2011 - FY2016   |   Prepared for the Board   |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vs non-performing segments - benchmark: above/below average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3657600" cy="118872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91440" cy="118872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474720" y="15544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858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$94.5M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6858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countries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43400" y="1417320"/>
            <a:ext cx="3657600" cy="118872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343400" y="1417320"/>
            <a:ext cx="91440" cy="118872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360920" y="1554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1,332,077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45720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globally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0" y="1417320"/>
            <a:ext cx="3657600" cy="118872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0" y="1417320"/>
            <a:ext cx="91440" cy="118872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247120" y="15544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4582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$41.8M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84582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 margin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LEDGER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4712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Performing (above avg)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Non-Performing (below avg)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Age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1F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D7CCC8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7200" y="5486400"/>
            <a:ext cx="73152" cy="86868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40080" y="57790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and Australia drive ~59% of revenue. 41 of 53 states sit below the state average - the long tail is the biggest underperforming bloc.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3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Country - Total Revenue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(&gt;= avg) shown in olive; Non-Performing (&lt; avg) shown in brick. Benchmark = $15.7M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946574529"/>
              </p:ext>
            </p:extLst>
          </p:nvPr>
        </p:nvGraphicFramePr>
        <p:xfrm>
          <a:off x="457200" y="141732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7589520" y="141732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201400" y="15544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7772400" y="1920240"/>
            <a:ext cx="137160" cy="27432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0010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0010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1955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$30.6M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0010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19556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$25.3M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772400" y="3099816"/>
            <a:ext cx="137160" cy="27432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001000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00100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19556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001000" y="3758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195560" y="3758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0100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195560" y="4050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0010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19556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Country - Order Quantity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(&gt;= avg) shown in olive; Non-Performing (&lt; avg) shown in brick. Benchmark = 222,013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838862045"/>
              </p:ext>
            </p:extLst>
          </p:nvPr>
        </p:nvGraphicFramePr>
        <p:xfrm>
          <a:off x="457200" y="141732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7589520" y="141732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201400" y="15544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7772400" y="1920240"/>
            <a:ext cx="137160" cy="27432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0010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0010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1955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473,316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0010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19556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261,110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772400" y="3099816"/>
            <a:ext cx="137160" cy="27432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001000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00100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19556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189,751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001000" y="3758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195560" y="3758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155,731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0100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195560" y="4050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127,703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0010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19556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124,466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1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Country - Total Profit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(&gt;= avg) shown in olive; Non-Performing (&lt; avg) shown in brick. Benchmark = $7.0M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470482180"/>
              </p:ext>
            </p:extLst>
          </p:nvPr>
        </p:nvGraphicFramePr>
        <p:xfrm>
          <a:off x="457200" y="141732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7589520" y="1417320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201400" y="15544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7772400" y="1920240"/>
            <a:ext cx="137160" cy="27432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0010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0010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1955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$13.8M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0010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19556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$10.8M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772400" y="3099816"/>
            <a:ext cx="137160" cy="27432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001000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00100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19556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001000" y="3758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195560" y="3758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0100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195560" y="4050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0010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19556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rgbClr val="3E3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0018" y="201168"/>
            <a:ext cx="10992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Age Group - Total Revenue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Youth (&lt;25), Young Adult (25-35), Adult (&gt;35). Benchmark = $31.5M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228600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8404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$43.7M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+38.7% vs avg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06324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306324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39319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384048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315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$34.9M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+10.7% vs avg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70916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" y="4709160"/>
            <a:ext cx="109728" cy="150876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557784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38404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3152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$16.0M</a:t>
            </a:r>
            <a:endParaRPr lang="en-US" sz="3400" dirty="0"/>
          </a:p>
        </p:txBody>
      </p:sp>
      <p:sp>
        <p:nvSpPr>
          <p:cNvPr id="28" name="Text 21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-49.3% vs avg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506855812"/>
              </p:ext>
            </p:extLst>
          </p:nvPr>
        </p:nvGraphicFramePr>
        <p:xfrm>
          <a:off x="5852160" y="1417320"/>
          <a:ext cx="5852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rgbClr val="3D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Age Group - Order Quantity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Youth (&lt;25), Young Adult (25-35), Adult (&gt;35). Benchmark = 444,026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228600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8404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629,059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+41.7% vs avg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06324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306324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39319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384048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315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455,616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+2.6% vs avg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70916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" y="4709160"/>
            <a:ext cx="109728" cy="150876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557784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38404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3152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247,402</a:t>
            </a:r>
            <a:endParaRPr lang="en-US" sz="3400" dirty="0"/>
          </a:p>
        </p:txBody>
      </p:sp>
      <p:sp>
        <p:nvSpPr>
          <p:cNvPr id="28" name="Text 21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-44.3% vs avg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360108524"/>
              </p:ext>
            </p:extLst>
          </p:nvPr>
        </p:nvGraphicFramePr>
        <p:xfrm>
          <a:off x="5852160" y="1417320"/>
          <a:ext cx="5852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rgbClr val="251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Age Group - Total Profit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81716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Youth (&lt;25), Young Adult (25-35), Adult (&gt;35). Benchmark = $13.9M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228600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8404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$19.5M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+39.8% vs avg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06324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3063240"/>
            <a:ext cx="109728" cy="15087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39319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384048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315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$15.3M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+9.6% vs avg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70916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" y="4709160"/>
            <a:ext cx="109728" cy="150876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846320" y="557784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38404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3152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$7.1M</a:t>
            </a:r>
            <a:endParaRPr lang="en-US" sz="3400" dirty="0"/>
          </a:p>
        </p:txBody>
      </p:sp>
      <p:sp>
        <p:nvSpPr>
          <p:cNvPr id="28" name="Text 21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-49.4% vs avg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2024862183"/>
              </p:ext>
            </p:extLst>
          </p:nvPr>
        </p:nvGraphicFramePr>
        <p:xfrm>
          <a:off x="5852160" y="1417320"/>
          <a:ext cx="5852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bg>
      <p:bgPr>
        <a:solidFill>
          <a:srgbClr val="3E3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State - Total Revenue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10 Performing vs Bottom 10 Non-Performing states / regions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PERFORMING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553613098"/>
              </p:ext>
            </p:extLst>
          </p:nvPr>
        </p:nvGraphicFramePr>
        <p:xfrm>
          <a:off x="457200" y="1783080"/>
          <a:ext cx="548640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NON-PERFORMING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734846870"/>
              </p:ext>
            </p:extLst>
          </p:nvPr>
        </p:nvGraphicFramePr>
        <p:xfrm>
          <a:off x="6217920" y="1783080"/>
          <a:ext cx="548640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States - Performing vs Non-Performing Snapshot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KPIs side-by-side for the extremes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PERFORMING STATES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934104"/>
              </p:ext>
            </p:extLst>
          </p:nvPr>
        </p:nvGraphicFramePr>
        <p:xfrm>
          <a:off x="457200" y="1783080"/>
          <a:ext cx="548640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$17.9M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267,440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155,731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South Wales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114,897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136,756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Columbia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189,124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NON-PERFORMING STATES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282000"/>
              </p:ext>
            </p:extLst>
          </p:nvPr>
        </p:nvGraphicFramePr>
        <p:xfrm>
          <a:off x="6217920" y="1783080"/>
          <a:ext cx="548640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Alabama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Carolina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Ontario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$1,485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Carolina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$1,514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57200" y="4572000"/>
            <a:ext cx="109728" cy="18288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515600" y="4709160"/>
            <a:ext cx="1005840" cy="10058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STARK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3152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generated $17.9M in revenue - roughly 4,287x more than Kentucky ($4,172).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31520" y="5715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53 states sit above the state average, leaving 41 in the long tail. The board should decide whether to consolidate distribution or fund targeted growth investments in the lowest-performing regions.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&amp; Worst Selling Products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05840" y="8869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units sold across the full FY2011-FY2016 period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109728" cy="219456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983480" y="15544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 (BY UNITS)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858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Bottle - 30 oz.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6858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D7B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161,960 units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6858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$809,800   Profit: $485,880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14173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0" y="1417320"/>
            <a:ext cx="109728" cy="219456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0744200" y="15544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SELLER (BY UNITS)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4652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Mountain-500 Black, 52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644652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C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units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$21,600   Profit: $9,800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BEST SELLERS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272509655"/>
              </p:ext>
            </p:extLst>
          </p:nvPr>
        </p:nvGraphicFramePr>
        <p:xfrm>
          <a:off x="457200" y="4114800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 17"/>
          <p:cNvSpPr/>
          <p:nvPr/>
        </p:nvSpPr>
        <p:spPr>
          <a:xfrm>
            <a:off x="621792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WORST SELLERS</a:t>
            </a:r>
            <a:endParaRPr lang="en-US" sz="1100" dirty="0"/>
          </a:p>
        </p:txBody>
      </p:sp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3415627199"/>
              </p:ext>
            </p:extLst>
          </p:nvPr>
        </p:nvGraphicFramePr>
        <p:xfrm>
          <a:off x="6217920" y="4114800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Mix - Sub-Category Performance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leader's vs revenue leaders. Bikes drive revenue; consumables drive volume</a:t>
            </a: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UNITS SOLD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78308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67056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REVENUE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217920" y="178308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Seasonality - When We Sell, When We Don't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pattern across all years. Peak season = above average; off season = below average</a:t>
            </a: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417320"/>
            <a:ext cx="73152" cy="86868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4008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7B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337560" y="141732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37560" y="1417320"/>
            <a:ext cx="73152" cy="86868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5204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17320"/>
            <a:ext cx="73152" cy="86868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UNITS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0080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111,006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9098280" y="141732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98280" y="1417320"/>
            <a:ext cx="73152" cy="86868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811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2811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$7.87M</a:t>
            </a:r>
            <a:endParaRPr lang="en-US" sz="2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57200" y="2514600"/>
          <a:ext cx="11247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D7CCC8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5852160"/>
            <a:ext cx="73152" cy="59436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peaks (~22% above avg) on gift season; July dips ~21% below avg. Stock up for May-June cycling season.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bg>
      <p:bgPr>
        <a:solidFill>
          <a:srgbClr val="3D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75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States - Performing vs Non-Performing Snapshot</a:t>
            </a:r>
            <a:endParaRPr lang="en-US" sz="2800" dirty="0">
              <a:solidFill>
                <a:srgbClr val="A4755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886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KPIs side-by-side for the extremes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BikeGear Solutions  |  Board Pack  |  Confidential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515600" y="182880"/>
            <a:ext cx="1554480" cy="155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kern="0" spc="300" dirty="0">
                <a:solidFill>
                  <a:srgbClr val="5D7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PERFORMING STATES</a:t>
            </a:r>
            <a:endParaRPr lang="en-US" sz="1300" u="sng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69401"/>
              </p:ext>
            </p:extLst>
          </p:nvPr>
        </p:nvGraphicFramePr>
        <p:xfrm>
          <a:off x="447472" y="1783080"/>
          <a:ext cx="5496128" cy="2194560"/>
        </p:xfrm>
        <a:graphic>
          <a:graphicData uri="http://schemas.openxmlformats.org/drawingml/2006/table">
            <a:tbl>
              <a:tblPr/>
              <a:tblGrid>
                <a:gridCol w="22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$17.9M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267,440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155,731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South Wales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114,897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136,756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Columbia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$7.9M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189,124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D7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kern="0" spc="3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NON-PERFORMING STATES</a:t>
            </a:r>
            <a:endParaRPr lang="en-US" sz="1300" b="1" u="sng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16321"/>
              </p:ext>
            </p:extLst>
          </p:nvPr>
        </p:nvGraphicFramePr>
        <p:xfrm>
          <a:off x="6217920" y="1783080"/>
          <a:ext cx="548640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5F1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Alabama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Carolina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Ontario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$1,485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Carolina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$1,514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57200" y="4572000"/>
            <a:ext cx="109728" cy="18288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515600" y="4709160"/>
            <a:ext cx="1005840" cy="10058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STARK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3152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generated $17.9M in revenue - roughly 4,287x more than Kentucky ($4,172).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31520" y="5715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53 states sit above the state average, leaving 41 in the long tail. The board should decide whether to consolidate distribution or fund targeted growth investments in the lowest-performing regions.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10424160" y="-731520"/>
            <a:ext cx="2926080" cy="29260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1521440" y="5029200"/>
            <a:ext cx="1463040" cy="1463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A47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defend, where to invest, where to retreat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914400" y="2194560"/>
            <a:ext cx="10332720" cy="13258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2194560"/>
            <a:ext cx="109728" cy="1325880"/>
          </a:xfrm>
          <a:prstGeom prst="rect">
            <a:avLst/>
          </a:prstGeom>
          <a:solidFill>
            <a:srgbClr val="5D7B43"/>
          </a:solidFill>
          <a:ln w="12700">
            <a:solidFill>
              <a:srgbClr val="5D7B43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0561320" y="251460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88720" y="2606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Strongholds - US &amp; Australia, California &amp; England, Adult segment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88720" y="30358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deliver 59% of revenue and the deepest profit pool. Maintain ad-spend, protect inventory, lock in loyalty programs.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4400" y="3703320"/>
            <a:ext cx="10332720" cy="13258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3703320"/>
            <a:ext cx="109728" cy="1325880"/>
          </a:xfrm>
          <a:prstGeom prst="rect">
            <a:avLst/>
          </a:prstGeom>
          <a:solidFill>
            <a:srgbClr val="A47551"/>
          </a:solidFill>
          <a:ln w="12700">
            <a:solidFill>
              <a:srgbClr val="A47551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561320" y="4023360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6C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8872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zones - UK, Germany, France, Canada, Young Adult segment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188720" y="45445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Below-average country revenue but proven channels exist. Reallocate marketing from saturated leaders to fund regional campaigns.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14400" y="5212080"/>
            <a:ext cx="10332720" cy="13258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14400" y="5212080"/>
            <a:ext cx="109728" cy="1325880"/>
          </a:xfrm>
          <a:prstGeom prst="rect">
            <a:avLst/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0561320" y="5532120"/>
            <a:ext cx="6858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5349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08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88720" y="5623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tail - 41 underperforming states, Youth segment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188720" y="6053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between consolidating fulfilment, partnering with local distributors, or sunsetting unprofitable SKUs. Run a Youth-focused acquisition pilot to test demand.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1440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7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Analytics  |  Source: BikeGear Solutions sales data, FY2011-FY2016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6880</TotalTime>
  <Words>1153</Words>
  <Application>Microsoft Office PowerPoint</Application>
  <PresentationFormat>Widescreen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of Directors - Performance Review</dc:title>
  <dc:subject>PptxGenJS Presentation</dc:subject>
  <dc:creator>BikeGear Solutions</dc:creator>
  <cp:lastModifiedBy>Naomi chomba</cp:lastModifiedBy>
  <cp:revision>3</cp:revision>
  <dcterms:created xsi:type="dcterms:W3CDTF">2026-05-13T03:03:00Z</dcterms:created>
  <dcterms:modified xsi:type="dcterms:W3CDTF">2026-06-03T06:05:22Z</dcterms:modified>
</cp:coreProperties>
</file>